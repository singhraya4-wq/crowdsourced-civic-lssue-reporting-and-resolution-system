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Medium" charset="1" panose="00000600000000000000"/>
      <p:regular r:id="rId19"/>
    </p:embeddedFont>
    <p:embeddedFont>
      <p:font typeface="Poppins Ultra-Bold" charset="1" panose="00000900000000000000"/>
      <p:regular r:id="rId20"/>
    </p:embeddedFont>
    <p:embeddedFont>
      <p:font typeface="Saifah Font TH" charset="1" panose="02000503000000000000"/>
      <p:regular r:id="rId21"/>
    </p:embeddedFont>
    <p:embeddedFont>
      <p:font typeface="Poppins Bold" charset="1" panose="00000800000000000000"/>
      <p:regular r:id="rId22"/>
    </p:embeddedFont>
    <p:embeddedFont>
      <p:font typeface="Poppins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jpe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10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6.pn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57529" y="8999947"/>
            <a:ext cx="3863286" cy="258353"/>
          </a:xfrm>
          <a:custGeom>
            <a:avLst/>
            <a:gdLst/>
            <a:ahLst/>
            <a:cxnLst/>
            <a:rect r="r" b="b" t="t" l="l"/>
            <a:pathLst>
              <a:path h="258353" w="3863286">
                <a:moveTo>
                  <a:pt x="0" y="0"/>
                </a:moveTo>
                <a:lnTo>
                  <a:pt x="3863286" y="0"/>
                </a:lnTo>
                <a:lnTo>
                  <a:pt x="3863286" y="258353"/>
                </a:lnTo>
                <a:lnTo>
                  <a:pt x="0" y="2583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96014" y="1153523"/>
            <a:ext cx="3863286" cy="258353"/>
          </a:xfrm>
          <a:custGeom>
            <a:avLst/>
            <a:gdLst/>
            <a:ahLst/>
            <a:cxnLst/>
            <a:rect r="r" b="b" t="t" l="l"/>
            <a:pathLst>
              <a:path h="258353" w="3863286">
                <a:moveTo>
                  <a:pt x="0" y="0"/>
                </a:moveTo>
                <a:lnTo>
                  <a:pt x="3863286" y="0"/>
                </a:lnTo>
                <a:lnTo>
                  <a:pt x="3863286" y="258354"/>
                </a:lnTo>
                <a:lnTo>
                  <a:pt x="0" y="2583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9625" y="1028700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87632" y="8819050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36087" y="8972861"/>
            <a:ext cx="8598837" cy="55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570" b="true">
                <a:solidFill>
                  <a:srgbClr val="D5434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Foundation of Artificial Intelligence Programming using Python</a:t>
            </a:r>
          </a:p>
          <a:p>
            <a:pPr algn="l">
              <a:lnSpc>
                <a:spcPts val="2199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569805" y="1600368"/>
            <a:ext cx="17148391" cy="6144410"/>
            <a:chOff x="0" y="0"/>
            <a:chExt cx="22864521" cy="819254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1043847" y="1467851"/>
              <a:ext cx="21086761" cy="5459648"/>
              <a:chOff x="0" y="0"/>
              <a:chExt cx="3139272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13927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139272">
                    <a:moveTo>
                      <a:pt x="1569636" y="0"/>
                    </a:moveTo>
                    <a:cubicBezTo>
                      <a:pt x="702750" y="0"/>
                      <a:pt x="0" y="181951"/>
                      <a:pt x="0" y="406400"/>
                    </a:cubicBezTo>
                    <a:cubicBezTo>
                      <a:pt x="0" y="630849"/>
                      <a:pt x="702750" y="812800"/>
                      <a:pt x="1569636" y="812800"/>
                    </a:cubicBezTo>
                    <a:cubicBezTo>
                      <a:pt x="2436522" y="812800"/>
                      <a:pt x="3139272" y="630849"/>
                      <a:pt x="3139272" y="406400"/>
                    </a:cubicBezTo>
                    <a:cubicBezTo>
                      <a:pt x="3139272" y="181951"/>
                      <a:pt x="2436522" y="0"/>
                      <a:pt x="1569636" y="0"/>
                    </a:cubicBezTo>
                    <a:close/>
                  </a:path>
                </a:pathLst>
              </a:custGeom>
              <a:solidFill>
                <a:srgbClr val="D5434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94307" y="38100"/>
                <a:ext cx="2550658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454637">
              <a:off x="775949" y="1366449"/>
              <a:ext cx="21086761" cy="5459648"/>
              <a:chOff x="0" y="0"/>
              <a:chExt cx="3139272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13927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139272">
                    <a:moveTo>
                      <a:pt x="1569636" y="0"/>
                    </a:moveTo>
                    <a:cubicBezTo>
                      <a:pt x="702750" y="0"/>
                      <a:pt x="0" y="181951"/>
                      <a:pt x="0" y="406400"/>
                    </a:cubicBezTo>
                    <a:cubicBezTo>
                      <a:pt x="0" y="630849"/>
                      <a:pt x="702750" y="812800"/>
                      <a:pt x="1569636" y="812800"/>
                    </a:cubicBezTo>
                    <a:cubicBezTo>
                      <a:pt x="2436522" y="812800"/>
                      <a:pt x="3139272" y="630849"/>
                      <a:pt x="3139272" y="406400"/>
                    </a:cubicBezTo>
                    <a:cubicBezTo>
                      <a:pt x="3139272" y="181951"/>
                      <a:pt x="2436522" y="0"/>
                      <a:pt x="1569636" y="0"/>
                    </a:cubicBezTo>
                    <a:close/>
                  </a:path>
                </a:pathLst>
              </a:custGeom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94307" y="38100"/>
                <a:ext cx="2550658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2472547"/>
              <a:ext cx="22864521" cy="3069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528"/>
                </a:lnSpc>
                <a:spcBef>
                  <a:spcPct val="0"/>
                </a:spcBef>
              </a:pPr>
              <a:r>
                <a:rPr lang="en-US" b="true" sz="13234">
                  <a:solidFill>
                    <a:srgbClr val="071828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ISSUE REPORTING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19370803" y="962179"/>
              <a:ext cx="1011343" cy="1011343"/>
            </a:xfrm>
            <a:custGeom>
              <a:avLst/>
              <a:gdLst/>
              <a:ahLst/>
              <a:cxnLst/>
              <a:rect r="r" b="b" t="t" l="l"/>
              <a:pathLst>
                <a:path h="1011343" w="1011343">
                  <a:moveTo>
                    <a:pt x="0" y="0"/>
                  </a:moveTo>
                  <a:lnTo>
                    <a:pt x="1011344" y="0"/>
                  </a:lnTo>
                  <a:lnTo>
                    <a:pt x="1011344" y="1011344"/>
                  </a:lnTo>
                  <a:lnTo>
                    <a:pt x="0" y="1011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043847" y="5880457"/>
              <a:ext cx="1011343" cy="1011343"/>
            </a:xfrm>
            <a:custGeom>
              <a:avLst/>
              <a:gdLst/>
              <a:ahLst/>
              <a:cxnLst/>
              <a:rect r="r" b="b" t="t" l="l"/>
              <a:pathLst>
                <a:path h="1011343" w="1011343">
                  <a:moveTo>
                    <a:pt x="0" y="0"/>
                  </a:moveTo>
                  <a:lnTo>
                    <a:pt x="1011343" y="0"/>
                  </a:lnTo>
                  <a:lnTo>
                    <a:pt x="1011343" y="1011343"/>
                  </a:lnTo>
                  <a:lnTo>
                    <a:pt x="0" y="1011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6376053" y="1194813"/>
              <a:ext cx="9886554" cy="1714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830"/>
                </a:lnSpc>
                <a:spcBef>
                  <a:spcPct val="0"/>
                </a:spcBef>
              </a:pPr>
              <a:r>
                <a:rPr lang="en-US" sz="7736" spc="-309">
                  <a:solidFill>
                    <a:srgbClr val="FFF7E0"/>
                  </a:solidFill>
                  <a:latin typeface="Saifah Font TH"/>
                  <a:ea typeface="Saifah Font TH"/>
                  <a:cs typeface="Saifah Font TH"/>
                  <a:sym typeface="Saifah Font TH"/>
                </a:rPr>
                <a:t>Crowdsourced civic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8392480" y="5113373"/>
              <a:ext cx="5853700" cy="2912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922"/>
                </a:lnSpc>
              </a:pPr>
              <a:r>
                <a:rPr lang="en-US" sz="6372" spc="-254">
                  <a:solidFill>
                    <a:srgbClr val="FFF7E0"/>
                  </a:solidFill>
                  <a:latin typeface="Saifah Font TH"/>
                  <a:ea typeface="Saifah Font TH"/>
                  <a:cs typeface="Saifah Font TH"/>
                  <a:sym typeface="Saifah Font TH"/>
                </a:rPr>
                <a:t>system</a:t>
              </a:r>
            </a:p>
            <a:p>
              <a:pPr algn="ctr">
                <a:lnSpc>
                  <a:spcPts val="8922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420815" y="1115423"/>
            <a:ext cx="1975199" cy="27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  <a:spcBef>
                <a:spcPct val="0"/>
              </a:spcBef>
            </a:pPr>
            <a:r>
              <a:rPr lang="en-US" b="true" sz="157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milestone project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08415" y="8840069"/>
            <a:ext cx="3894168" cy="55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99"/>
              </a:lnSpc>
            </a:pPr>
            <a:r>
              <a:rPr lang="en-US" sz="1570" b="true">
                <a:solidFill>
                  <a:srgbClr val="D5434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By Raya Singh (A25ARIU0058)</a:t>
            </a:r>
          </a:p>
          <a:p>
            <a:pPr algn="r">
              <a:lnSpc>
                <a:spcPts val="2199"/>
              </a:lnSpc>
              <a:spcBef>
                <a:spcPct val="0"/>
              </a:spcBef>
            </a:pPr>
            <a:r>
              <a:rPr lang="en-US" b="true" sz="1570">
                <a:solidFill>
                  <a:srgbClr val="D5434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&amp; Swarnima Singh (A25ARIU0072)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6421" y="1028700"/>
            <a:ext cx="16655158" cy="8476778"/>
            <a:chOff x="0" y="0"/>
            <a:chExt cx="4386544" cy="22325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6543" cy="2232567"/>
            </a:xfrm>
            <a:custGeom>
              <a:avLst/>
              <a:gdLst/>
              <a:ahLst/>
              <a:cxnLst/>
              <a:rect r="r" b="b" t="t" l="l"/>
              <a:pathLst>
                <a:path h="2232567" w="4386543">
                  <a:moveTo>
                    <a:pt x="23707" y="0"/>
                  </a:moveTo>
                  <a:lnTo>
                    <a:pt x="4362837" y="0"/>
                  </a:lnTo>
                  <a:cubicBezTo>
                    <a:pt x="4375930" y="0"/>
                    <a:pt x="4386543" y="10614"/>
                    <a:pt x="4386543" y="23707"/>
                  </a:cubicBezTo>
                  <a:lnTo>
                    <a:pt x="4386543" y="2208860"/>
                  </a:lnTo>
                  <a:cubicBezTo>
                    <a:pt x="4386543" y="2221953"/>
                    <a:pt x="4375930" y="2232567"/>
                    <a:pt x="4362837" y="2232567"/>
                  </a:cubicBezTo>
                  <a:lnTo>
                    <a:pt x="23707" y="2232567"/>
                  </a:lnTo>
                  <a:cubicBezTo>
                    <a:pt x="10614" y="2232567"/>
                    <a:pt x="0" y="2221953"/>
                    <a:pt x="0" y="2208860"/>
                  </a:cubicBezTo>
                  <a:lnTo>
                    <a:pt x="0" y="23707"/>
                  </a:lnTo>
                  <a:cubicBezTo>
                    <a:pt x="0" y="10614"/>
                    <a:pt x="10614" y="0"/>
                    <a:pt x="2370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86544" cy="2270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95658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816421" y="2319849"/>
            <a:ext cx="16655158" cy="0"/>
          </a:xfrm>
          <a:prstGeom prst="line">
            <a:avLst/>
          </a:prstGeom>
          <a:ln cap="flat" w="38100">
            <a:solidFill>
              <a:srgbClr val="D543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533073" y="8686632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441587">
            <a:off x="1252134" y="2758735"/>
            <a:ext cx="3238051" cy="1090004"/>
          </a:xfrm>
          <a:custGeom>
            <a:avLst/>
            <a:gdLst/>
            <a:ahLst/>
            <a:cxnLst/>
            <a:rect r="r" b="b" t="t" l="l"/>
            <a:pathLst>
              <a:path h="1090004" w="3238051">
                <a:moveTo>
                  <a:pt x="0" y="0"/>
                </a:moveTo>
                <a:lnTo>
                  <a:pt x="3238050" y="0"/>
                </a:lnTo>
                <a:lnTo>
                  <a:pt x="3238050" y="1090004"/>
                </a:lnTo>
                <a:lnTo>
                  <a:pt x="0" y="1090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343879" y="1183488"/>
            <a:ext cx="7301774" cy="97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6"/>
              </a:lnSpc>
              <a:spcBef>
                <a:spcPct val="0"/>
              </a:spcBef>
            </a:pPr>
            <a:r>
              <a:rPr lang="en-US" b="true" sz="53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79840" y="4503552"/>
            <a:ext cx="14538360" cy="4503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9"/>
              </a:lnSpc>
            </a:pPr>
            <a:r>
              <a:rPr lang="en-US" sz="2328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Currently, there isn’t a single, simple platform where we can report everyday civic issues. People may use </a:t>
            </a:r>
            <a:r>
              <a:rPr lang="en-US" b="true" sz="2328" spc="118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municipal websites, apps, or helplines,</a:t>
            </a:r>
            <a:r>
              <a:rPr lang="en-US" sz="2328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but these options are often </a:t>
            </a:r>
            <a:r>
              <a:rPr lang="en-US" b="true" sz="2328" spc="118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complicated, slow, or not widely known</a:t>
            </a:r>
            <a:r>
              <a:rPr lang="en-US" sz="2328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Because of this, </a:t>
            </a:r>
            <a:r>
              <a:rPr lang="en-US" b="true" sz="2328" spc="118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many issues go unreported, and even when they are reported, there is a lack of proper tracking and response</a:t>
            </a:r>
            <a:r>
              <a:rPr lang="en-US" sz="2328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This gap highlights the need for a more accessible and efficient system.</a:t>
            </a:r>
          </a:p>
          <a:p>
            <a:pPr algn="ctr">
              <a:lnSpc>
                <a:spcPts val="3259"/>
              </a:lnSpc>
            </a:pPr>
            <a:r>
              <a:rPr lang="en-US" sz="2328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have designed a </a:t>
            </a:r>
            <a:r>
              <a:rPr lang="en-US" b="true" sz="2328" spc="118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crowdsourced civic issue reporting system that acts as a bridge between citizens and authorities</a:t>
            </a:r>
            <a:r>
              <a:rPr lang="en-US" sz="2328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It is a web-based platform where </a:t>
            </a:r>
            <a:r>
              <a:rPr lang="en-US" b="true" sz="2328" spc="118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people can report problems in their surroundings, and all the information collected is stored in a structured format</a:t>
            </a:r>
            <a:r>
              <a:rPr lang="en-US" sz="2328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This data can then be </a:t>
            </a:r>
            <a:r>
              <a:rPr lang="en-US" b="true" sz="2328" spc="118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monitored and managed systematically, helping in better tracking, organization, and resolution of civic issues</a:t>
            </a:r>
            <a:r>
              <a:rPr lang="en-US" sz="2328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ctr">
              <a:lnSpc>
                <a:spcPts val="325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179840" y="2627294"/>
            <a:ext cx="13928320" cy="171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4"/>
              </a:lnSpc>
              <a:spcBef>
                <a:spcPct val="0"/>
              </a:spcBef>
            </a:pPr>
            <a:r>
              <a:rPr lang="en-US" sz="4881" spc="-195">
                <a:solidFill>
                  <a:srgbClr val="D54344"/>
                </a:solidFill>
                <a:latin typeface="Saifah Font TH"/>
                <a:ea typeface="Saifah Font TH"/>
                <a:cs typeface="Saifah Font TH"/>
                <a:sym typeface="Saifah Font TH"/>
              </a:rPr>
              <a:t>Where do we actually go to complain about everyday civic issues?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95658" y="8686632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533073" y="1467734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6421" y="1028700"/>
            <a:ext cx="16655158" cy="8476778"/>
            <a:chOff x="0" y="0"/>
            <a:chExt cx="4386544" cy="22325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6543" cy="2232567"/>
            </a:xfrm>
            <a:custGeom>
              <a:avLst/>
              <a:gdLst/>
              <a:ahLst/>
              <a:cxnLst/>
              <a:rect r="r" b="b" t="t" l="l"/>
              <a:pathLst>
                <a:path h="2232567" w="4386543">
                  <a:moveTo>
                    <a:pt x="23707" y="0"/>
                  </a:moveTo>
                  <a:lnTo>
                    <a:pt x="4362837" y="0"/>
                  </a:lnTo>
                  <a:cubicBezTo>
                    <a:pt x="4375930" y="0"/>
                    <a:pt x="4386543" y="10614"/>
                    <a:pt x="4386543" y="23707"/>
                  </a:cubicBezTo>
                  <a:lnTo>
                    <a:pt x="4386543" y="2208860"/>
                  </a:lnTo>
                  <a:cubicBezTo>
                    <a:pt x="4386543" y="2221953"/>
                    <a:pt x="4375930" y="2232567"/>
                    <a:pt x="4362837" y="2232567"/>
                  </a:cubicBezTo>
                  <a:lnTo>
                    <a:pt x="23707" y="2232567"/>
                  </a:lnTo>
                  <a:cubicBezTo>
                    <a:pt x="10614" y="2232567"/>
                    <a:pt x="0" y="2221953"/>
                    <a:pt x="0" y="2208860"/>
                  </a:cubicBezTo>
                  <a:lnTo>
                    <a:pt x="0" y="23707"/>
                  </a:lnTo>
                  <a:cubicBezTo>
                    <a:pt x="0" y="10614"/>
                    <a:pt x="10614" y="0"/>
                    <a:pt x="2370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86544" cy="2270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95658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816421" y="2319849"/>
            <a:ext cx="16655158" cy="0"/>
          </a:xfrm>
          <a:prstGeom prst="line">
            <a:avLst/>
          </a:prstGeom>
          <a:ln cap="flat" w="38100">
            <a:solidFill>
              <a:srgbClr val="D543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576592" y="1183488"/>
            <a:ext cx="7301774" cy="97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6"/>
              </a:lnSpc>
              <a:spcBef>
                <a:spcPct val="0"/>
              </a:spcBef>
            </a:pPr>
            <a:r>
              <a:rPr lang="en-US" b="true" sz="53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21352" y="2889524"/>
            <a:ext cx="13612253" cy="5625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2630" indent="-341315" lvl="1">
              <a:lnSpc>
                <a:spcPts val="4426"/>
              </a:lnSpc>
              <a:buFont typeface="Arial"/>
              <a:buChar char="•"/>
            </a:pPr>
            <a:r>
              <a:rPr lang="en-US" sz="3161" spc="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develop a simple and user-friendly platform for reporting civic issues</a:t>
            </a:r>
          </a:p>
          <a:p>
            <a:pPr algn="l" marL="682630" indent="-341315" lvl="1">
              <a:lnSpc>
                <a:spcPts val="4426"/>
              </a:lnSpc>
              <a:buFont typeface="Arial"/>
              <a:buChar char="•"/>
            </a:pPr>
            <a:r>
              <a:rPr lang="en-US" sz="3161" spc="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encourage active citizen participation through easy access</a:t>
            </a:r>
          </a:p>
          <a:p>
            <a:pPr algn="l" marL="682630" indent="-341315" lvl="1">
              <a:lnSpc>
                <a:spcPts val="4426"/>
              </a:lnSpc>
              <a:buFont typeface="Arial"/>
              <a:buChar char="•"/>
            </a:pPr>
            <a:r>
              <a:rPr lang="en-US" sz="3161" spc="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collect and organize data in a structured format</a:t>
            </a:r>
          </a:p>
          <a:p>
            <a:pPr algn="l" marL="682630" indent="-341315" lvl="1">
              <a:lnSpc>
                <a:spcPts val="4426"/>
              </a:lnSpc>
              <a:buFont typeface="Arial"/>
              <a:buChar char="•"/>
            </a:pPr>
            <a:r>
              <a:rPr lang="en-US" sz="3161" spc="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enable efficient tracking and management of reported issues</a:t>
            </a:r>
          </a:p>
          <a:p>
            <a:pPr algn="l" marL="682630" indent="-341315" lvl="1">
              <a:lnSpc>
                <a:spcPts val="4426"/>
              </a:lnSpc>
              <a:buFont typeface="Arial"/>
              <a:buChar char="•"/>
            </a:pPr>
            <a:r>
              <a:rPr lang="en-US" sz="3161" spc="1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provide a system that supports better decision-making through data</a:t>
            </a:r>
          </a:p>
          <a:p>
            <a:pPr algn="l">
              <a:lnSpc>
                <a:spcPts val="4426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687632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6421" y="1028700"/>
            <a:ext cx="16655158" cy="8476778"/>
            <a:chOff x="0" y="0"/>
            <a:chExt cx="4386544" cy="22325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6543" cy="2232567"/>
            </a:xfrm>
            <a:custGeom>
              <a:avLst/>
              <a:gdLst/>
              <a:ahLst/>
              <a:cxnLst/>
              <a:rect r="r" b="b" t="t" l="l"/>
              <a:pathLst>
                <a:path h="2232567" w="4386543">
                  <a:moveTo>
                    <a:pt x="23707" y="0"/>
                  </a:moveTo>
                  <a:lnTo>
                    <a:pt x="4362837" y="0"/>
                  </a:lnTo>
                  <a:cubicBezTo>
                    <a:pt x="4375930" y="0"/>
                    <a:pt x="4386543" y="10614"/>
                    <a:pt x="4386543" y="23707"/>
                  </a:cubicBezTo>
                  <a:lnTo>
                    <a:pt x="4386543" y="2208860"/>
                  </a:lnTo>
                  <a:cubicBezTo>
                    <a:pt x="4386543" y="2221953"/>
                    <a:pt x="4375930" y="2232567"/>
                    <a:pt x="4362837" y="2232567"/>
                  </a:cubicBezTo>
                  <a:lnTo>
                    <a:pt x="23707" y="2232567"/>
                  </a:lnTo>
                  <a:cubicBezTo>
                    <a:pt x="10614" y="2232567"/>
                    <a:pt x="0" y="2221953"/>
                    <a:pt x="0" y="2208860"/>
                  </a:cubicBezTo>
                  <a:lnTo>
                    <a:pt x="0" y="23707"/>
                  </a:lnTo>
                  <a:cubicBezTo>
                    <a:pt x="0" y="10614"/>
                    <a:pt x="10614" y="0"/>
                    <a:pt x="2370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86544" cy="2270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95658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816421" y="2319849"/>
            <a:ext cx="16655158" cy="0"/>
          </a:xfrm>
          <a:prstGeom prst="line">
            <a:avLst/>
          </a:prstGeom>
          <a:ln cap="flat" w="38100">
            <a:solidFill>
              <a:srgbClr val="D543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247239" y="8266304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969807" y="2822596"/>
            <a:ext cx="4246482" cy="6187442"/>
            <a:chOff x="0" y="0"/>
            <a:chExt cx="55783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7830" cy="812800"/>
            </a:xfrm>
            <a:custGeom>
              <a:avLst/>
              <a:gdLst/>
              <a:ahLst/>
              <a:cxnLst/>
              <a:rect r="r" b="b" t="t" l="l"/>
              <a:pathLst>
                <a:path h="812800" w="557830">
                  <a:moveTo>
                    <a:pt x="41932" y="0"/>
                  </a:moveTo>
                  <a:lnTo>
                    <a:pt x="515898" y="0"/>
                  </a:lnTo>
                  <a:cubicBezTo>
                    <a:pt x="527019" y="0"/>
                    <a:pt x="537685" y="4418"/>
                    <a:pt x="545548" y="12282"/>
                  </a:cubicBezTo>
                  <a:cubicBezTo>
                    <a:pt x="553412" y="20145"/>
                    <a:pt x="557830" y="30811"/>
                    <a:pt x="557830" y="41932"/>
                  </a:cubicBezTo>
                  <a:lnTo>
                    <a:pt x="557830" y="770868"/>
                  </a:lnTo>
                  <a:cubicBezTo>
                    <a:pt x="557830" y="794026"/>
                    <a:pt x="539056" y="812800"/>
                    <a:pt x="515898" y="812800"/>
                  </a:cubicBezTo>
                  <a:lnTo>
                    <a:pt x="41932" y="812800"/>
                  </a:lnTo>
                  <a:cubicBezTo>
                    <a:pt x="30811" y="812800"/>
                    <a:pt x="20145" y="808382"/>
                    <a:pt x="12282" y="800518"/>
                  </a:cubicBezTo>
                  <a:cubicBezTo>
                    <a:pt x="4418" y="792655"/>
                    <a:pt x="0" y="781989"/>
                    <a:pt x="0" y="770868"/>
                  </a:cubicBezTo>
                  <a:lnTo>
                    <a:pt x="0" y="41932"/>
                  </a:lnTo>
                  <a:cubicBezTo>
                    <a:pt x="0" y="30811"/>
                    <a:pt x="4418" y="20145"/>
                    <a:pt x="12282" y="12282"/>
                  </a:cubicBezTo>
                  <a:cubicBezTo>
                    <a:pt x="20145" y="4418"/>
                    <a:pt x="30811" y="0"/>
                    <a:pt x="41932" y="0"/>
                  </a:cubicBezTo>
                  <a:close/>
                </a:path>
              </a:pathLst>
            </a:custGeom>
            <a:blipFill>
              <a:blip r:embed="rId7"/>
              <a:stretch>
                <a:fillRect l="-1676" t="-13502" r="0" b="-37784"/>
              </a:stretch>
            </a:blipFill>
            <a:ln w="47625" cap="rnd">
              <a:solidFill>
                <a:srgbClr val="D54344"/>
              </a:solidFill>
              <a:prstDash val="solid"/>
              <a:round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441587">
            <a:off x="7236081" y="2941827"/>
            <a:ext cx="3238051" cy="1090004"/>
          </a:xfrm>
          <a:custGeom>
            <a:avLst/>
            <a:gdLst/>
            <a:ahLst/>
            <a:cxnLst/>
            <a:rect r="r" b="b" t="t" l="l"/>
            <a:pathLst>
              <a:path h="1090004" w="3238051">
                <a:moveTo>
                  <a:pt x="0" y="0"/>
                </a:moveTo>
                <a:lnTo>
                  <a:pt x="3238051" y="0"/>
                </a:lnTo>
                <a:lnTo>
                  <a:pt x="3238051" y="1090003"/>
                </a:lnTo>
                <a:lnTo>
                  <a:pt x="0" y="10900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247239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683736" y="1183488"/>
            <a:ext cx="7301774" cy="97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6"/>
              </a:lnSpc>
              <a:spcBef>
                <a:spcPct val="0"/>
              </a:spcBef>
            </a:pPr>
            <a:r>
              <a:rPr lang="en-US" b="true" sz="53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OVERVIEW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09620" y="3210510"/>
            <a:ext cx="9409288" cy="548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6161" indent="-278080" lvl="1">
              <a:lnSpc>
                <a:spcPts val="3606"/>
              </a:lnSpc>
              <a:buFont typeface="Arial"/>
              <a:buChar char="•"/>
            </a:pPr>
            <a:r>
              <a:rPr lang="en-US" sz="2576" spc="1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system is designed as a </a:t>
            </a:r>
            <a:r>
              <a:rPr lang="en-US" b="true" sz="2576" spc="131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web-based application</a:t>
            </a:r>
            <a:r>
              <a:rPr lang="en-US" sz="2576" spc="1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which means it can be accessed through </a:t>
            </a:r>
            <a:r>
              <a:rPr lang="en-US" b="true" sz="2576" spc="131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 browser without requiring installation</a:t>
            </a:r>
            <a:r>
              <a:rPr lang="en-US" sz="2576" spc="1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This ensures ease of use and wider accessibility for users.</a:t>
            </a:r>
          </a:p>
          <a:p>
            <a:pPr algn="just" marL="556161" indent="-278080" lvl="1">
              <a:lnSpc>
                <a:spcPts val="3606"/>
              </a:lnSpc>
              <a:buFont typeface="Arial"/>
              <a:buChar char="•"/>
            </a:pPr>
            <a:r>
              <a:rPr lang="en-US" sz="2576" spc="1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follows a </a:t>
            </a:r>
            <a:r>
              <a:rPr lang="en-US" b="true" sz="2576" spc="131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client–server interaction model, where the user (client) interacts with the interface</a:t>
            </a:r>
            <a:r>
              <a:rPr lang="en-US" sz="2576" spc="1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lang="en-US" b="true" sz="2576" spc="131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backend system processes requests, stores data, and returns responses. This structure helps in maintaining efficiency and organization</a:t>
            </a:r>
            <a:r>
              <a:rPr lang="en-US" sz="2576" spc="1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3606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6421" y="1028700"/>
            <a:ext cx="16655158" cy="8476778"/>
            <a:chOff x="0" y="0"/>
            <a:chExt cx="4386544" cy="22325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6543" cy="2232567"/>
            </a:xfrm>
            <a:custGeom>
              <a:avLst/>
              <a:gdLst/>
              <a:ahLst/>
              <a:cxnLst/>
              <a:rect r="r" b="b" t="t" l="l"/>
              <a:pathLst>
                <a:path h="2232567" w="4386543">
                  <a:moveTo>
                    <a:pt x="23707" y="0"/>
                  </a:moveTo>
                  <a:lnTo>
                    <a:pt x="4362837" y="0"/>
                  </a:lnTo>
                  <a:cubicBezTo>
                    <a:pt x="4375930" y="0"/>
                    <a:pt x="4386543" y="10614"/>
                    <a:pt x="4386543" y="23707"/>
                  </a:cubicBezTo>
                  <a:lnTo>
                    <a:pt x="4386543" y="2208860"/>
                  </a:lnTo>
                  <a:cubicBezTo>
                    <a:pt x="4386543" y="2221953"/>
                    <a:pt x="4375930" y="2232567"/>
                    <a:pt x="4362837" y="2232567"/>
                  </a:cubicBezTo>
                  <a:lnTo>
                    <a:pt x="23707" y="2232567"/>
                  </a:lnTo>
                  <a:cubicBezTo>
                    <a:pt x="10614" y="2232567"/>
                    <a:pt x="0" y="2221953"/>
                    <a:pt x="0" y="2208860"/>
                  </a:cubicBezTo>
                  <a:lnTo>
                    <a:pt x="0" y="23707"/>
                  </a:lnTo>
                  <a:cubicBezTo>
                    <a:pt x="0" y="10614"/>
                    <a:pt x="10614" y="0"/>
                    <a:pt x="2370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86544" cy="2270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95658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816421" y="2319849"/>
            <a:ext cx="16655158" cy="0"/>
          </a:xfrm>
          <a:prstGeom prst="line">
            <a:avLst/>
          </a:prstGeom>
          <a:ln cap="flat" w="38100">
            <a:solidFill>
              <a:srgbClr val="D543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701752" y="5435451"/>
            <a:ext cx="7116321" cy="3765747"/>
            <a:chOff x="0" y="0"/>
            <a:chExt cx="745342" cy="3944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5342" cy="394413"/>
            </a:xfrm>
            <a:custGeom>
              <a:avLst/>
              <a:gdLst/>
              <a:ahLst/>
              <a:cxnLst/>
              <a:rect r="r" b="b" t="t" l="l"/>
              <a:pathLst>
                <a:path h="394413" w="745342">
                  <a:moveTo>
                    <a:pt x="25022" y="0"/>
                  </a:moveTo>
                  <a:lnTo>
                    <a:pt x="720320" y="0"/>
                  </a:lnTo>
                  <a:cubicBezTo>
                    <a:pt x="726957" y="0"/>
                    <a:pt x="733321" y="2636"/>
                    <a:pt x="738013" y="7329"/>
                  </a:cubicBezTo>
                  <a:cubicBezTo>
                    <a:pt x="742706" y="12021"/>
                    <a:pt x="745342" y="18386"/>
                    <a:pt x="745342" y="25022"/>
                  </a:cubicBezTo>
                  <a:lnTo>
                    <a:pt x="745342" y="369391"/>
                  </a:lnTo>
                  <a:cubicBezTo>
                    <a:pt x="745342" y="376027"/>
                    <a:pt x="742706" y="382392"/>
                    <a:pt x="738013" y="387084"/>
                  </a:cubicBezTo>
                  <a:cubicBezTo>
                    <a:pt x="733321" y="391777"/>
                    <a:pt x="726957" y="394413"/>
                    <a:pt x="720320" y="394413"/>
                  </a:cubicBezTo>
                  <a:lnTo>
                    <a:pt x="25022" y="394413"/>
                  </a:lnTo>
                  <a:cubicBezTo>
                    <a:pt x="18386" y="394413"/>
                    <a:pt x="12021" y="391777"/>
                    <a:pt x="7329" y="387084"/>
                  </a:cubicBezTo>
                  <a:cubicBezTo>
                    <a:pt x="2636" y="382392"/>
                    <a:pt x="0" y="376027"/>
                    <a:pt x="0" y="369391"/>
                  </a:cubicBezTo>
                  <a:lnTo>
                    <a:pt x="0" y="25022"/>
                  </a:lnTo>
                  <a:cubicBezTo>
                    <a:pt x="0" y="18386"/>
                    <a:pt x="2636" y="12021"/>
                    <a:pt x="7329" y="7329"/>
                  </a:cubicBezTo>
                  <a:cubicBezTo>
                    <a:pt x="12021" y="2636"/>
                    <a:pt x="18386" y="0"/>
                    <a:pt x="25022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1416" r="0" b="-11416"/>
              </a:stretch>
            </a:blipFill>
            <a:ln w="47625" cap="rnd">
              <a:solidFill>
                <a:srgbClr val="D54344"/>
              </a:solidFill>
              <a:prstDash val="solid"/>
              <a:round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925281" y="3915898"/>
            <a:ext cx="6523621" cy="1191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3"/>
              </a:lnSpc>
              <a:spcBef>
                <a:spcPct val="0"/>
              </a:spcBef>
            </a:pPr>
            <a:r>
              <a:rPr lang="en-US" sz="2280" spc="1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Allows users to report civic issues by providing necessary details such as problem type, location, and severity.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47239" y="8266304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533073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441587">
            <a:off x="3073689" y="2758735"/>
            <a:ext cx="3238051" cy="1090004"/>
          </a:xfrm>
          <a:custGeom>
            <a:avLst/>
            <a:gdLst/>
            <a:ahLst/>
            <a:cxnLst/>
            <a:rect r="r" b="b" t="t" l="l"/>
            <a:pathLst>
              <a:path h="1090004" w="3238051">
                <a:moveTo>
                  <a:pt x="0" y="0"/>
                </a:moveTo>
                <a:lnTo>
                  <a:pt x="3238051" y="0"/>
                </a:lnTo>
                <a:lnTo>
                  <a:pt x="3238051" y="1090004"/>
                </a:lnTo>
                <a:lnTo>
                  <a:pt x="0" y="10900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 flipH="true">
            <a:off x="9163050" y="2319849"/>
            <a:ext cx="0" cy="7170794"/>
          </a:xfrm>
          <a:prstGeom prst="line">
            <a:avLst/>
          </a:prstGeom>
          <a:ln cap="flat" w="38100">
            <a:solidFill>
              <a:srgbClr val="D543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441587">
            <a:off x="12040728" y="2858025"/>
            <a:ext cx="3238051" cy="1090004"/>
          </a:xfrm>
          <a:custGeom>
            <a:avLst/>
            <a:gdLst/>
            <a:ahLst/>
            <a:cxnLst/>
            <a:rect r="r" b="b" t="t" l="l"/>
            <a:pathLst>
              <a:path h="1090004" w="3238051">
                <a:moveTo>
                  <a:pt x="0" y="0"/>
                </a:moveTo>
                <a:lnTo>
                  <a:pt x="3238051" y="0"/>
                </a:lnTo>
                <a:lnTo>
                  <a:pt x="3238051" y="1090004"/>
                </a:lnTo>
                <a:lnTo>
                  <a:pt x="0" y="10900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968816" y="5492553"/>
            <a:ext cx="7116321" cy="3765747"/>
            <a:chOff x="0" y="0"/>
            <a:chExt cx="745342" cy="3944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5342" cy="394413"/>
            </a:xfrm>
            <a:custGeom>
              <a:avLst/>
              <a:gdLst/>
              <a:ahLst/>
              <a:cxnLst/>
              <a:rect r="r" b="b" t="t" l="l"/>
              <a:pathLst>
                <a:path h="394413" w="745342">
                  <a:moveTo>
                    <a:pt x="25022" y="0"/>
                  </a:moveTo>
                  <a:lnTo>
                    <a:pt x="720320" y="0"/>
                  </a:lnTo>
                  <a:cubicBezTo>
                    <a:pt x="726957" y="0"/>
                    <a:pt x="733321" y="2636"/>
                    <a:pt x="738013" y="7329"/>
                  </a:cubicBezTo>
                  <a:cubicBezTo>
                    <a:pt x="742706" y="12021"/>
                    <a:pt x="745342" y="18386"/>
                    <a:pt x="745342" y="25022"/>
                  </a:cubicBezTo>
                  <a:lnTo>
                    <a:pt x="745342" y="369391"/>
                  </a:lnTo>
                  <a:cubicBezTo>
                    <a:pt x="745342" y="376027"/>
                    <a:pt x="742706" y="382392"/>
                    <a:pt x="738013" y="387084"/>
                  </a:cubicBezTo>
                  <a:cubicBezTo>
                    <a:pt x="733321" y="391777"/>
                    <a:pt x="726957" y="394413"/>
                    <a:pt x="720320" y="394413"/>
                  </a:cubicBezTo>
                  <a:lnTo>
                    <a:pt x="25022" y="394413"/>
                  </a:lnTo>
                  <a:cubicBezTo>
                    <a:pt x="18386" y="394413"/>
                    <a:pt x="12021" y="391777"/>
                    <a:pt x="7329" y="387084"/>
                  </a:cubicBezTo>
                  <a:cubicBezTo>
                    <a:pt x="2636" y="382392"/>
                    <a:pt x="0" y="376027"/>
                    <a:pt x="0" y="369391"/>
                  </a:cubicBezTo>
                  <a:lnTo>
                    <a:pt x="0" y="25022"/>
                  </a:lnTo>
                  <a:cubicBezTo>
                    <a:pt x="0" y="18386"/>
                    <a:pt x="2636" y="12021"/>
                    <a:pt x="7329" y="7329"/>
                  </a:cubicBezTo>
                  <a:cubicBezTo>
                    <a:pt x="12021" y="2636"/>
                    <a:pt x="18386" y="0"/>
                    <a:pt x="25022" y="0"/>
                  </a:cubicBezTo>
                  <a:close/>
                </a:path>
              </a:pathLst>
            </a:custGeom>
            <a:blipFill>
              <a:blip r:embed="rId10"/>
              <a:stretch>
                <a:fillRect l="-7362" t="0" r="-7362" b="0"/>
              </a:stretch>
            </a:blipFill>
            <a:ln w="47625" cap="rnd">
              <a:solidFill>
                <a:srgbClr val="D54344"/>
              </a:solidFill>
              <a:prstDash val="solid"/>
              <a:round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5259912" y="1183488"/>
            <a:ext cx="7301774" cy="97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6"/>
              </a:lnSpc>
              <a:spcBef>
                <a:spcPct val="0"/>
              </a:spcBef>
            </a:pPr>
            <a:r>
              <a:rPr lang="en-US" b="true" sz="53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OVERVIEW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23388" y="2615658"/>
            <a:ext cx="4259201" cy="98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2"/>
              </a:lnSpc>
              <a:spcBef>
                <a:spcPct val="0"/>
              </a:spcBef>
            </a:pPr>
            <a:r>
              <a:rPr lang="en-US" sz="5830" spc="-233">
                <a:solidFill>
                  <a:srgbClr val="D54344"/>
                </a:solidFill>
                <a:latin typeface="Saifah Font TH"/>
                <a:ea typeface="Saifah Font TH"/>
                <a:cs typeface="Saifah Font TH"/>
                <a:sym typeface="Saifah Font TH"/>
              </a:rPr>
              <a:t>User Interface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68816" y="3984971"/>
            <a:ext cx="7381875" cy="1181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228" spc="1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Enables administrators to view all submitted reports, manage data, and update the status of issues.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36999" y="2758659"/>
            <a:ext cx="4510241" cy="98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2"/>
              </a:lnSpc>
              <a:spcBef>
                <a:spcPct val="0"/>
              </a:spcBef>
            </a:pPr>
            <a:r>
              <a:rPr lang="en-US" sz="5830" spc="-233">
                <a:solidFill>
                  <a:srgbClr val="D54344"/>
                </a:solidFill>
                <a:latin typeface="Saifah Font TH"/>
                <a:ea typeface="Saifah Font TH"/>
                <a:cs typeface="Saifah Font TH"/>
                <a:sym typeface="Saifah Font TH"/>
              </a:rPr>
              <a:t>Admin Interface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6421" y="1028700"/>
            <a:ext cx="16655158" cy="8476778"/>
            <a:chOff x="0" y="0"/>
            <a:chExt cx="4386544" cy="22325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6543" cy="2232567"/>
            </a:xfrm>
            <a:custGeom>
              <a:avLst/>
              <a:gdLst/>
              <a:ahLst/>
              <a:cxnLst/>
              <a:rect r="r" b="b" t="t" l="l"/>
              <a:pathLst>
                <a:path h="2232567" w="4386543">
                  <a:moveTo>
                    <a:pt x="23707" y="0"/>
                  </a:moveTo>
                  <a:lnTo>
                    <a:pt x="4362837" y="0"/>
                  </a:lnTo>
                  <a:cubicBezTo>
                    <a:pt x="4375930" y="0"/>
                    <a:pt x="4386543" y="10614"/>
                    <a:pt x="4386543" y="23707"/>
                  </a:cubicBezTo>
                  <a:lnTo>
                    <a:pt x="4386543" y="2208860"/>
                  </a:lnTo>
                  <a:cubicBezTo>
                    <a:pt x="4386543" y="2221953"/>
                    <a:pt x="4375930" y="2232567"/>
                    <a:pt x="4362837" y="2232567"/>
                  </a:cubicBezTo>
                  <a:lnTo>
                    <a:pt x="23707" y="2232567"/>
                  </a:lnTo>
                  <a:cubicBezTo>
                    <a:pt x="10614" y="2232567"/>
                    <a:pt x="0" y="2221953"/>
                    <a:pt x="0" y="2208860"/>
                  </a:cubicBezTo>
                  <a:lnTo>
                    <a:pt x="0" y="23707"/>
                  </a:lnTo>
                  <a:cubicBezTo>
                    <a:pt x="0" y="10614"/>
                    <a:pt x="10614" y="0"/>
                    <a:pt x="2370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86544" cy="2270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95658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816421" y="2319849"/>
            <a:ext cx="16655158" cy="0"/>
          </a:xfrm>
          <a:prstGeom prst="line">
            <a:avLst/>
          </a:prstGeom>
          <a:ln cap="flat" w="38100">
            <a:solidFill>
              <a:srgbClr val="D543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576592" y="1183488"/>
            <a:ext cx="7301774" cy="97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6"/>
              </a:lnSpc>
              <a:spcBef>
                <a:spcPct val="0"/>
              </a:spcBef>
            </a:pPr>
            <a:r>
              <a:rPr lang="en-US" b="true" sz="53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1492" y="2461323"/>
            <a:ext cx="15777808" cy="135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6"/>
              </a:lnSpc>
              <a:spcBef>
                <a:spcPct val="0"/>
              </a:spcBef>
            </a:pPr>
            <a:r>
              <a:rPr lang="en-US" sz="2561" spc="1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system is implemented </a:t>
            </a:r>
            <a:r>
              <a:rPr lang="en-US" b="true" sz="2561" spc="130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using Python, with Gradio used to build the web-based user interface. </a:t>
            </a:r>
            <a:r>
              <a:rPr lang="en-US" sz="2561" spc="1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entire application is structured into modular functions to handle different operations such as login, data storage, issue submission, and admin control.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687632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230306" y="4042491"/>
            <a:ext cx="7994345" cy="91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2"/>
              </a:lnSpc>
              <a:spcBef>
                <a:spcPct val="0"/>
              </a:spcBef>
            </a:pPr>
            <a:r>
              <a:rPr lang="en-US" sz="5330" spc="-213">
                <a:solidFill>
                  <a:srgbClr val="D54344"/>
                </a:solidFill>
                <a:latin typeface="Saifah Font TH"/>
                <a:ea typeface="Saifah Font TH"/>
                <a:cs typeface="Saifah Font TH"/>
                <a:sym typeface="Saifah Font TH"/>
              </a:rPr>
              <a:t>Data Initialization and Storage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67326" y="5200909"/>
            <a:ext cx="14371466" cy="447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4"/>
              </a:lnSpc>
            </a:pPr>
            <a:r>
              <a:rPr lang="en-US" sz="2810" spc="1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system uses JSON files to store:</a:t>
            </a:r>
          </a:p>
          <a:p>
            <a:pPr algn="l" marL="606697" indent="-303349" lvl="1">
              <a:lnSpc>
                <a:spcPts val="3934"/>
              </a:lnSpc>
              <a:buFont typeface="Arial"/>
              <a:buChar char="•"/>
            </a:pPr>
            <a:r>
              <a:rPr lang="en-US" sz="2810" spc="1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 data</a:t>
            </a:r>
          </a:p>
          <a:p>
            <a:pPr algn="l" marL="606697" indent="-303349" lvl="1">
              <a:lnSpc>
                <a:spcPts val="3934"/>
              </a:lnSpc>
              <a:buFont typeface="Arial"/>
              <a:buChar char="•"/>
            </a:pPr>
            <a:r>
              <a:rPr lang="en-US" sz="2810" spc="1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Issue reports</a:t>
            </a:r>
          </a:p>
          <a:p>
            <a:pPr algn="l">
              <a:lnSpc>
                <a:spcPts val="3934"/>
              </a:lnSpc>
            </a:pPr>
          </a:p>
          <a:p>
            <a:pPr algn="l">
              <a:lnSpc>
                <a:spcPts val="3934"/>
              </a:lnSpc>
            </a:pPr>
            <a:r>
              <a:rPr lang="en-US" sz="2810" spc="1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Preloaded data is generated using Python libraries like:</a:t>
            </a:r>
          </a:p>
          <a:p>
            <a:pPr algn="l" marL="606697" indent="-303349" lvl="1">
              <a:lnSpc>
                <a:spcPts val="3934"/>
              </a:lnSpc>
              <a:buFont typeface="Arial"/>
              <a:buChar char="•"/>
            </a:pPr>
            <a:r>
              <a:rPr lang="en-US" b="true" sz="2810" spc="143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random (for generating sample values)</a:t>
            </a:r>
          </a:p>
          <a:p>
            <a:pPr algn="l" marL="606697" indent="-303349" lvl="1">
              <a:lnSpc>
                <a:spcPts val="3934"/>
              </a:lnSpc>
              <a:buFont typeface="Arial"/>
              <a:buChar char="•"/>
            </a:pPr>
            <a:r>
              <a:rPr lang="en-US" b="true" sz="2810" spc="143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uuid (for unique issue IDs)</a:t>
            </a:r>
          </a:p>
          <a:p>
            <a:pPr algn="l" marL="606697" indent="-303349" lvl="1">
              <a:lnSpc>
                <a:spcPts val="3934"/>
              </a:lnSpc>
              <a:buFont typeface="Arial"/>
              <a:buChar char="•"/>
            </a:pPr>
            <a:r>
              <a:rPr lang="en-US" sz="2810" spc="1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ensures a large dataset for testing and simulation.</a:t>
            </a:r>
          </a:p>
          <a:p>
            <a:pPr algn="l">
              <a:lnSpc>
                <a:spcPts val="3934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6421" y="1028700"/>
            <a:ext cx="16655158" cy="8476778"/>
            <a:chOff x="0" y="0"/>
            <a:chExt cx="4386544" cy="22325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6543" cy="2232567"/>
            </a:xfrm>
            <a:custGeom>
              <a:avLst/>
              <a:gdLst/>
              <a:ahLst/>
              <a:cxnLst/>
              <a:rect r="r" b="b" t="t" l="l"/>
              <a:pathLst>
                <a:path h="2232567" w="4386543">
                  <a:moveTo>
                    <a:pt x="23707" y="0"/>
                  </a:moveTo>
                  <a:lnTo>
                    <a:pt x="4362837" y="0"/>
                  </a:lnTo>
                  <a:cubicBezTo>
                    <a:pt x="4375930" y="0"/>
                    <a:pt x="4386543" y="10614"/>
                    <a:pt x="4386543" y="23707"/>
                  </a:cubicBezTo>
                  <a:lnTo>
                    <a:pt x="4386543" y="2208860"/>
                  </a:lnTo>
                  <a:cubicBezTo>
                    <a:pt x="4386543" y="2221953"/>
                    <a:pt x="4375930" y="2232567"/>
                    <a:pt x="4362837" y="2232567"/>
                  </a:cubicBezTo>
                  <a:lnTo>
                    <a:pt x="23707" y="2232567"/>
                  </a:lnTo>
                  <a:cubicBezTo>
                    <a:pt x="10614" y="2232567"/>
                    <a:pt x="0" y="2221953"/>
                    <a:pt x="0" y="2208860"/>
                  </a:cubicBezTo>
                  <a:lnTo>
                    <a:pt x="0" y="23707"/>
                  </a:lnTo>
                  <a:cubicBezTo>
                    <a:pt x="0" y="10614"/>
                    <a:pt x="10614" y="0"/>
                    <a:pt x="2370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86544" cy="2270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95658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816421" y="2319849"/>
            <a:ext cx="16655158" cy="0"/>
          </a:xfrm>
          <a:prstGeom prst="line">
            <a:avLst/>
          </a:prstGeom>
          <a:ln cap="flat" w="38100">
            <a:solidFill>
              <a:srgbClr val="D543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576592" y="1183488"/>
            <a:ext cx="7301774" cy="97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6"/>
              </a:lnSpc>
              <a:spcBef>
                <a:spcPct val="0"/>
              </a:spcBef>
            </a:pPr>
            <a:r>
              <a:rPr lang="en-US" b="true" sz="53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687632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146828" y="2376999"/>
            <a:ext cx="7994345" cy="91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2"/>
              </a:lnSpc>
              <a:spcBef>
                <a:spcPct val="0"/>
              </a:spcBef>
            </a:pPr>
            <a:r>
              <a:rPr lang="en-US" sz="5330" spc="-213">
                <a:solidFill>
                  <a:srgbClr val="D54344"/>
                </a:solidFill>
                <a:latin typeface="Saifah Font TH"/>
                <a:ea typeface="Saifah Font TH"/>
                <a:cs typeface="Saifah Font TH"/>
                <a:sym typeface="Saifah Font TH"/>
              </a:rPr>
              <a:t>User Authentication Logic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7326" y="3378963"/>
            <a:ext cx="14371466" cy="3200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2610" spc="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login function is implemented to:</a:t>
            </a:r>
          </a:p>
          <a:p>
            <a:pPr algn="l" marL="563518" indent="-281759" lvl="1">
              <a:lnSpc>
                <a:spcPts val="3654"/>
              </a:lnSpc>
              <a:buFont typeface="Arial"/>
              <a:buChar char="•"/>
            </a:pPr>
            <a:r>
              <a:rPr lang="en-US" sz="2610" spc="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Check if the user is admin (fixed credentials)</a:t>
            </a:r>
          </a:p>
          <a:p>
            <a:pPr algn="l" marL="563518" indent="-281759" lvl="1">
              <a:lnSpc>
                <a:spcPts val="3654"/>
              </a:lnSpc>
              <a:buFont typeface="Arial"/>
              <a:buChar char="•"/>
            </a:pPr>
            <a:r>
              <a:rPr lang="en-US" sz="2610" spc="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Otherwise treat as a normal user</a:t>
            </a:r>
          </a:p>
          <a:p>
            <a:pPr algn="l" marL="563518" indent="-281759" lvl="1">
              <a:lnSpc>
                <a:spcPts val="3654"/>
              </a:lnSpc>
              <a:buFont typeface="Arial"/>
              <a:buChar char="•"/>
            </a:pPr>
            <a:r>
              <a:rPr lang="en-US" sz="2610" spc="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a new username is entered:</a:t>
            </a:r>
          </a:p>
          <a:p>
            <a:pPr algn="l">
              <a:lnSpc>
                <a:spcPts val="3654"/>
              </a:lnSpc>
            </a:pPr>
            <a:r>
              <a:rPr lang="en-US" sz="2610" spc="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      i) </a:t>
            </a:r>
            <a:r>
              <a:rPr lang="en-US" sz="2610" spc="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is automatically added to the user database</a:t>
            </a:r>
          </a:p>
          <a:p>
            <a:pPr algn="l">
              <a:lnSpc>
                <a:spcPts val="3654"/>
              </a:lnSpc>
            </a:pPr>
            <a:r>
              <a:rPr lang="en-US" sz="2610" spc="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      ii) </a:t>
            </a:r>
            <a:r>
              <a:rPr lang="en-US" sz="2610" spc="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removes the need for complex authentication systems</a:t>
            </a:r>
          </a:p>
          <a:p>
            <a:pPr algn="l">
              <a:lnSpc>
                <a:spcPts val="365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134975" y="6071177"/>
            <a:ext cx="7994345" cy="91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2"/>
              </a:lnSpc>
              <a:spcBef>
                <a:spcPct val="0"/>
              </a:spcBef>
            </a:pPr>
            <a:r>
              <a:rPr lang="en-US" sz="5330" spc="-213">
                <a:solidFill>
                  <a:srgbClr val="D54344"/>
                </a:solidFill>
                <a:latin typeface="Saifah Font TH"/>
                <a:ea typeface="Saifah Font TH"/>
                <a:cs typeface="Saifah Font TH"/>
                <a:sym typeface="Saifah Font TH"/>
              </a:rPr>
              <a:t>Issue Submission Module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7326" y="7008193"/>
            <a:ext cx="6735298" cy="225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980" indent="-273990" lvl="1">
              <a:lnSpc>
                <a:spcPts val="3553"/>
              </a:lnSpc>
              <a:buFont typeface="Arial"/>
              <a:buChar char="•"/>
            </a:pPr>
            <a:r>
              <a:rPr lang="en-US" sz="2538" spc="1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function handles user input:</a:t>
            </a:r>
          </a:p>
          <a:p>
            <a:pPr algn="l" marL="1095960" indent="-365320" lvl="2">
              <a:lnSpc>
                <a:spcPts val="3553"/>
              </a:lnSpc>
              <a:buFont typeface="Arial"/>
              <a:buChar char="⚬"/>
            </a:pPr>
            <a:r>
              <a:rPr lang="en-US" sz="2538" spc="1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 description</a:t>
            </a:r>
          </a:p>
          <a:p>
            <a:pPr algn="l" marL="1095960" indent="-365320" lvl="2">
              <a:lnSpc>
                <a:spcPts val="3553"/>
              </a:lnSpc>
              <a:buFont typeface="Arial"/>
              <a:buChar char="⚬"/>
            </a:pPr>
            <a:r>
              <a:rPr lang="en-US" sz="2538" spc="1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Location</a:t>
            </a:r>
          </a:p>
          <a:p>
            <a:pPr algn="l" marL="1095960" indent="-365320" lvl="2">
              <a:lnSpc>
                <a:spcPts val="3553"/>
              </a:lnSpc>
              <a:buFont typeface="Arial"/>
              <a:buChar char="⚬"/>
            </a:pPr>
            <a:r>
              <a:rPr lang="en-US" sz="2538" spc="1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Type</a:t>
            </a:r>
          </a:p>
          <a:p>
            <a:pPr algn="l" marL="1095960" indent="-365320" lvl="2">
              <a:lnSpc>
                <a:spcPts val="3553"/>
              </a:lnSpc>
              <a:spcBef>
                <a:spcPct val="0"/>
              </a:spcBef>
              <a:buFont typeface="Arial"/>
              <a:buChar char="⚬"/>
            </a:pPr>
            <a:r>
              <a:rPr lang="en-US" sz="2538" spc="1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Severity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27479" y="7050207"/>
            <a:ext cx="6735298" cy="225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980" indent="-273990" lvl="1">
              <a:lnSpc>
                <a:spcPts val="3553"/>
              </a:lnSpc>
              <a:buFont typeface="Arial"/>
              <a:buChar char="•"/>
            </a:pPr>
            <a:r>
              <a:rPr lang="en-US" sz="2538" spc="1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unique Issue ID is generated using uuid</a:t>
            </a:r>
          </a:p>
          <a:p>
            <a:pPr algn="l" marL="547980" indent="-273990" lvl="1">
              <a:lnSpc>
                <a:spcPts val="3553"/>
              </a:lnSpc>
              <a:buFont typeface="Arial"/>
              <a:buChar char="•"/>
            </a:pPr>
            <a:r>
              <a:rPr lang="en-US" b="true" sz="2538" spc="129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issue is stored in JSON with status set to “Pending”</a:t>
            </a:r>
          </a:p>
          <a:p>
            <a:pPr algn="l">
              <a:lnSpc>
                <a:spcPts val="355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6421" y="1028700"/>
            <a:ext cx="16655158" cy="8476778"/>
            <a:chOff x="0" y="0"/>
            <a:chExt cx="4386544" cy="22325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6543" cy="2232567"/>
            </a:xfrm>
            <a:custGeom>
              <a:avLst/>
              <a:gdLst/>
              <a:ahLst/>
              <a:cxnLst/>
              <a:rect r="r" b="b" t="t" l="l"/>
              <a:pathLst>
                <a:path h="2232567" w="4386543">
                  <a:moveTo>
                    <a:pt x="23707" y="0"/>
                  </a:moveTo>
                  <a:lnTo>
                    <a:pt x="4362837" y="0"/>
                  </a:lnTo>
                  <a:cubicBezTo>
                    <a:pt x="4375930" y="0"/>
                    <a:pt x="4386543" y="10614"/>
                    <a:pt x="4386543" y="23707"/>
                  </a:cubicBezTo>
                  <a:lnTo>
                    <a:pt x="4386543" y="2208860"/>
                  </a:lnTo>
                  <a:cubicBezTo>
                    <a:pt x="4386543" y="2221953"/>
                    <a:pt x="4375930" y="2232567"/>
                    <a:pt x="4362837" y="2232567"/>
                  </a:cubicBezTo>
                  <a:lnTo>
                    <a:pt x="23707" y="2232567"/>
                  </a:lnTo>
                  <a:cubicBezTo>
                    <a:pt x="10614" y="2232567"/>
                    <a:pt x="0" y="2221953"/>
                    <a:pt x="0" y="2208860"/>
                  </a:cubicBezTo>
                  <a:lnTo>
                    <a:pt x="0" y="23707"/>
                  </a:lnTo>
                  <a:cubicBezTo>
                    <a:pt x="0" y="10614"/>
                    <a:pt x="10614" y="0"/>
                    <a:pt x="2370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86544" cy="2270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95658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816421" y="2319849"/>
            <a:ext cx="16655158" cy="0"/>
          </a:xfrm>
          <a:prstGeom prst="line">
            <a:avLst/>
          </a:prstGeom>
          <a:ln cap="flat" w="38100">
            <a:solidFill>
              <a:srgbClr val="D543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576592" y="1183488"/>
            <a:ext cx="7301774" cy="97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6"/>
              </a:lnSpc>
              <a:spcBef>
                <a:spcPct val="0"/>
              </a:spcBef>
            </a:pPr>
            <a:r>
              <a:rPr lang="en-US" b="true" sz="53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687632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30684" y="2347191"/>
            <a:ext cx="9826633" cy="98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2"/>
              </a:lnSpc>
              <a:spcBef>
                <a:spcPct val="0"/>
              </a:spcBef>
            </a:pPr>
            <a:r>
              <a:rPr lang="en-US" sz="5830" spc="-233">
                <a:solidFill>
                  <a:srgbClr val="D54344"/>
                </a:solidFill>
                <a:latin typeface="Saifah Font TH"/>
                <a:ea typeface="Saifah Font TH"/>
                <a:cs typeface="Saifah Font TH"/>
                <a:sym typeface="Saifah Font TH"/>
              </a:rPr>
              <a:t>Data Processing using Pandas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7326" y="3408771"/>
            <a:ext cx="14371466" cy="2743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3518" indent="-281759" lvl="1">
              <a:lnSpc>
                <a:spcPts val="3654"/>
              </a:lnSpc>
              <a:buFont typeface="Arial"/>
              <a:buChar char="•"/>
            </a:pPr>
            <a:r>
              <a:rPr lang="en-US" b="true" sz="2610" spc="133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JSON data is converted into a Pandas DataFrame</a:t>
            </a:r>
          </a:p>
          <a:p>
            <a:pPr algn="l" marL="563518" indent="-281759" lvl="1">
              <a:lnSpc>
                <a:spcPts val="3654"/>
              </a:lnSpc>
              <a:buFont typeface="Arial"/>
              <a:buChar char="•"/>
            </a:pPr>
            <a:r>
              <a:rPr lang="en-US" sz="2610" spc="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allows:</a:t>
            </a:r>
          </a:p>
          <a:p>
            <a:pPr algn="l" marL="1127037" indent="-375679" lvl="2">
              <a:lnSpc>
                <a:spcPts val="3654"/>
              </a:lnSpc>
              <a:buFont typeface="Arial"/>
              <a:buChar char="⚬"/>
            </a:pPr>
            <a:r>
              <a:rPr lang="en-US" sz="2610" spc="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Filtering user-specific data</a:t>
            </a:r>
          </a:p>
          <a:p>
            <a:pPr algn="l" marL="1127037" indent="-375679" lvl="2">
              <a:lnSpc>
                <a:spcPts val="3654"/>
              </a:lnSpc>
              <a:buFont typeface="Arial"/>
              <a:buChar char="⚬"/>
            </a:pPr>
            <a:r>
              <a:rPr lang="en-US" sz="2610" spc="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Counting total, pending, and resolved issues</a:t>
            </a:r>
          </a:p>
          <a:p>
            <a:pPr algn="l" marL="1127037" indent="-375679" lvl="2">
              <a:lnSpc>
                <a:spcPts val="3654"/>
              </a:lnSpc>
              <a:buFont typeface="Arial"/>
              <a:buChar char="⚬"/>
            </a:pPr>
            <a:r>
              <a:rPr lang="en-US" sz="2610" spc="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Grouping data by category and severity</a:t>
            </a:r>
          </a:p>
          <a:p>
            <a:pPr algn="l">
              <a:lnSpc>
                <a:spcPts val="365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955886" y="5613977"/>
            <a:ext cx="7994345" cy="98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2"/>
              </a:lnSpc>
              <a:spcBef>
                <a:spcPct val="0"/>
              </a:spcBef>
            </a:pPr>
            <a:r>
              <a:rPr lang="en-US" sz="5830" spc="-233">
                <a:solidFill>
                  <a:srgbClr val="D54344"/>
                </a:solidFill>
                <a:latin typeface="Saifah Font TH"/>
                <a:ea typeface="Saifah Font TH"/>
                <a:cs typeface="Saifah Font TH"/>
                <a:sym typeface="Saifah Font TH"/>
              </a:rPr>
              <a:t>Admin Control Module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22167" y="6646982"/>
            <a:ext cx="12799913" cy="2800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3"/>
              </a:lnSpc>
            </a:pPr>
            <a:r>
              <a:rPr lang="en-US" sz="2638" spc="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Admin can:</a:t>
            </a:r>
          </a:p>
          <a:p>
            <a:pPr algn="l" marL="569570" indent="-284785" lvl="1">
              <a:lnSpc>
                <a:spcPts val="3693"/>
              </a:lnSpc>
              <a:buFont typeface="Arial"/>
              <a:buChar char="•"/>
            </a:pPr>
            <a:r>
              <a:rPr lang="en-US" sz="2638" spc="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View all reports</a:t>
            </a:r>
          </a:p>
          <a:p>
            <a:pPr algn="l" marL="569570" indent="-284785" lvl="1">
              <a:lnSpc>
                <a:spcPts val="3693"/>
              </a:lnSpc>
              <a:buFont typeface="Arial"/>
              <a:buChar char="•"/>
            </a:pPr>
            <a:r>
              <a:rPr lang="en-US" sz="2638" spc="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Search using Issue ID</a:t>
            </a:r>
          </a:p>
          <a:p>
            <a:pPr algn="l" marL="569570" indent="-284785" lvl="1">
              <a:lnSpc>
                <a:spcPts val="3693"/>
              </a:lnSpc>
              <a:buFont typeface="Arial"/>
              <a:buChar char="•"/>
            </a:pPr>
            <a:r>
              <a:rPr lang="en-US" sz="2638" spc="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Update status to “Resolved”</a:t>
            </a:r>
          </a:p>
          <a:p>
            <a:pPr algn="l" marL="569570" indent="-284785" lvl="1">
              <a:lnSpc>
                <a:spcPts val="3693"/>
              </a:lnSpc>
              <a:buFont typeface="Arial"/>
              <a:buChar char="•"/>
            </a:pPr>
            <a:r>
              <a:rPr lang="en-US" b="true" sz="2638" spc="134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Changes are written back to the JSON file</a:t>
            </a:r>
          </a:p>
          <a:p>
            <a:pPr algn="l">
              <a:lnSpc>
                <a:spcPts val="369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6421" y="1028700"/>
            <a:ext cx="16655158" cy="8476778"/>
            <a:chOff x="0" y="0"/>
            <a:chExt cx="4386544" cy="22325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6543" cy="2232567"/>
            </a:xfrm>
            <a:custGeom>
              <a:avLst/>
              <a:gdLst/>
              <a:ahLst/>
              <a:cxnLst/>
              <a:rect r="r" b="b" t="t" l="l"/>
              <a:pathLst>
                <a:path h="2232567" w="4386543">
                  <a:moveTo>
                    <a:pt x="23707" y="0"/>
                  </a:moveTo>
                  <a:lnTo>
                    <a:pt x="4362837" y="0"/>
                  </a:lnTo>
                  <a:cubicBezTo>
                    <a:pt x="4375930" y="0"/>
                    <a:pt x="4386543" y="10614"/>
                    <a:pt x="4386543" y="23707"/>
                  </a:cubicBezTo>
                  <a:lnTo>
                    <a:pt x="4386543" y="2208860"/>
                  </a:lnTo>
                  <a:cubicBezTo>
                    <a:pt x="4386543" y="2221953"/>
                    <a:pt x="4375930" y="2232567"/>
                    <a:pt x="4362837" y="2232567"/>
                  </a:cubicBezTo>
                  <a:lnTo>
                    <a:pt x="23707" y="2232567"/>
                  </a:lnTo>
                  <a:cubicBezTo>
                    <a:pt x="10614" y="2232567"/>
                    <a:pt x="0" y="2221953"/>
                    <a:pt x="0" y="2208860"/>
                  </a:cubicBezTo>
                  <a:lnTo>
                    <a:pt x="0" y="23707"/>
                  </a:lnTo>
                  <a:cubicBezTo>
                    <a:pt x="0" y="10614"/>
                    <a:pt x="10614" y="0"/>
                    <a:pt x="2370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86544" cy="2270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95658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816421" y="2319849"/>
            <a:ext cx="16655158" cy="0"/>
          </a:xfrm>
          <a:prstGeom prst="line">
            <a:avLst/>
          </a:prstGeom>
          <a:ln cap="flat" w="38100">
            <a:solidFill>
              <a:srgbClr val="D543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576592" y="1183488"/>
            <a:ext cx="7301774" cy="97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6"/>
              </a:lnSpc>
              <a:spcBef>
                <a:spcPct val="0"/>
              </a:spcBef>
            </a:pPr>
            <a:r>
              <a:rPr lang="en-US" b="true" sz="53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687632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30684" y="2347191"/>
            <a:ext cx="9826633" cy="98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2"/>
              </a:lnSpc>
              <a:spcBef>
                <a:spcPct val="0"/>
              </a:spcBef>
            </a:pPr>
            <a:r>
              <a:rPr lang="en-US" sz="5830" spc="-233">
                <a:solidFill>
                  <a:srgbClr val="D54344"/>
                </a:solidFill>
                <a:latin typeface="Saifah Font TH"/>
                <a:ea typeface="Saifah Font TH"/>
                <a:cs typeface="Saifah Font TH"/>
                <a:sym typeface="Saifah Font TH"/>
              </a:rPr>
              <a:t>Data Visualization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48897" y="3349135"/>
            <a:ext cx="10629469" cy="2286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2610" spc="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Graphs are generated using</a:t>
            </a:r>
            <a:r>
              <a:rPr lang="en-US" b="true" sz="2610" spc="133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Plotly</a:t>
            </a:r>
            <a:r>
              <a:rPr lang="en-US" sz="2610" spc="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 marL="563518" indent="-281759" lvl="1">
              <a:lnSpc>
                <a:spcPts val="3654"/>
              </a:lnSpc>
              <a:buFont typeface="Arial"/>
              <a:buChar char="•"/>
            </a:pPr>
            <a:r>
              <a:rPr lang="en-US" sz="2610" spc="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Category distribution</a:t>
            </a:r>
          </a:p>
          <a:p>
            <a:pPr algn="l" marL="563518" indent="-281759" lvl="1">
              <a:lnSpc>
                <a:spcPts val="3654"/>
              </a:lnSpc>
              <a:buFont typeface="Arial"/>
              <a:buChar char="•"/>
            </a:pPr>
            <a:r>
              <a:rPr lang="en-US" sz="2610" spc="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Status (Pending vs Resolved)</a:t>
            </a:r>
          </a:p>
          <a:p>
            <a:pPr algn="l" marL="563518" indent="-281759" lvl="1">
              <a:lnSpc>
                <a:spcPts val="3654"/>
              </a:lnSpc>
              <a:buFont typeface="Arial"/>
              <a:buChar char="•"/>
            </a:pPr>
            <a:r>
              <a:rPr lang="en-US" sz="2610" spc="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Severity levels</a:t>
            </a:r>
          </a:p>
          <a:p>
            <a:pPr algn="l">
              <a:lnSpc>
                <a:spcPts val="3654"/>
              </a:lnSpc>
              <a:spcBef>
                <a:spcPct val="0"/>
              </a:spcBef>
            </a:pPr>
            <a:r>
              <a:rPr lang="en-US" sz="2610" spc="1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These graphs are displayed only in the admin dashboard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55886" y="5613977"/>
            <a:ext cx="7994345" cy="98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2"/>
              </a:lnSpc>
              <a:spcBef>
                <a:spcPct val="0"/>
              </a:spcBef>
            </a:pPr>
            <a:r>
              <a:rPr lang="en-US" sz="5830" spc="-233">
                <a:solidFill>
                  <a:srgbClr val="D54344"/>
                </a:solidFill>
                <a:latin typeface="Saifah Font TH"/>
                <a:ea typeface="Saifah Font TH"/>
                <a:cs typeface="Saifah Font TH"/>
                <a:sym typeface="Saifah Font TH"/>
              </a:rPr>
              <a:t>User Interface (Gradio)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22167" y="6637457"/>
            <a:ext cx="12799913" cy="2568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3"/>
              </a:lnSpc>
            </a:pPr>
            <a:r>
              <a:rPr lang="en-US" sz="2438" spc="1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UI is built using Gradio Blocks:</a:t>
            </a:r>
          </a:p>
          <a:p>
            <a:pPr algn="l" marL="526391" indent="-263195" lvl="1">
              <a:lnSpc>
                <a:spcPts val="3413"/>
              </a:lnSpc>
              <a:buFont typeface="Arial"/>
              <a:buChar char="•"/>
            </a:pPr>
            <a:r>
              <a:rPr lang="en-US" sz="2438" spc="1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Login page</a:t>
            </a:r>
          </a:p>
          <a:p>
            <a:pPr algn="l" marL="526391" indent="-263195" lvl="1">
              <a:lnSpc>
                <a:spcPts val="3413"/>
              </a:lnSpc>
              <a:buFont typeface="Arial"/>
              <a:buChar char="•"/>
            </a:pPr>
            <a:r>
              <a:rPr lang="en-US" sz="2438" spc="1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 dashboard</a:t>
            </a:r>
          </a:p>
          <a:p>
            <a:pPr algn="l" marL="526391" indent="-263195" lvl="1">
              <a:lnSpc>
                <a:spcPts val="3413"/>
              </a:lnSpc>
              <a:buFont typeface="Arial"/>
              <a:buChar char="•"/>
            </a:pPr>
            <a:r>
              <a:rPr lang="en-US" sz="2438" spc="1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Admin dashboard</a:t>
            </a:r>
          </a:p>
          <a:p>
            <a:pPr algn="l" marL="526391" indent="-263195" lvl="1">
              <a:lnSpc>
                <a:spcPts val="3413"/>
              </a:lnSpc>
              <a:buFont typeface="Arial"/>
              <a:buChar char="•"/>
            </a:pPr>
            <a:r>
              <a:rPr lang="en-US" sz="2438" spc="1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Components used:</a:t>
            </a:r>
          </a:p>
          <a:p>
            <a:pPr algn="l" marL="504801" indent="-252401" lvl="1">
              <a:lnSpc>
                <a:spcPts val="3273"/>
              </a:lnSpc>
              <a:spcBef>
                <a:spcPct val="0"/>
              </a:spcBef>
              <a:buFont typeface="Arial"/>
              <a:buChar char="•"/>
            </a:pPr>
            <a:r>
              <a:rPr lang="en-US" sz="2338" spc="11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Textboxes, buttons, dropdowns, tables, plots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64033" y="6608882"/>
            <a:ext cx="7009433" cy="2157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3"/>
              </a:lnSpc>
            </a:pPr>
          </a:p>
          <a:p>
            <a:pPr algn="l">
              <a:lnSpc>
                <a:spcPts val="3413"/>
              </a:lnSpc>
            </a:pPr>
            <a:r>
              <a:rPr lang="en-US" sz="2438" spc="1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Navigation is handled dynamically using:</a:t>
            </a:r>
          </a:p>
          <a:p>
            <a:pPr algn="l" marL="526391" indent="-263195" lvl="1">
              <a:lnSpc>
                <a:spcPts val="3413"/>
              </a:lnSpc>
              <a:buFont typeface="Arial"/>
              <a:buChar char="•"/>
            </a:pPr>
            <a:r>
              <a:rPr lang="en-US" b="true" sz="2438" spc="124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gr.State()</a:t>
            </a:r>
          </a:p>
          <a:p>
            <a:pPr algn="l" marL="526391" indent="-263195" lvl="1">
              <a:lnSpc>
                <a:spcPts val="3413"/>
              </a:lnSpc>
              <a:buFont typeface="Arial"/>
              <a:buChar char="•"/>
            </a:pPr>
            <a:r>
              <a:rPr lang="en-US" b="true" sz="2438" spc="124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gr.update()</a:t>
            </a:r>
          </a:p>
          <a:p>
            <a:pPr algn="l">
              <a:lnSpc>
                <a:spcPts val="341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6421" y="1028700"/>
            <a:ext cx="16655158" cy="8476778"/>
            <a:chOff x="0" y="0"/>
            <a:chExt cx="4386544" cy="22325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6543" cy="2232567"/>
            </a:xfrm>
            <a:custGeom>
              <a:avLst/>
              <a:gdLst/>
              <a:ahLst/>
              <a:cxnLst/>
              <a:rect r="r" b="b" t="t" l="l"/>
              <a:pathLst>
                <a:path h="2232567" w="4386543">
                  <a:moveTo>
                    <a:pt x="23707" y="0"/>
                  </a:moveTo>
                  <a:lnTo>
                    <a:pt x="4362837" y="0"/>
                  </a:lnTo>
                  <a:cubicBezTo>
                    <a:pt x="4375930" y="0"/>
                    <a:pt x="4386543" y="10614"/>
                    <a:pt x="4386543" y="23707"/>
                  </a:cubicBezTo>
                  <a:lnTo>
                    <a:pt x="4386543" y="2208860"/>
                  </a:lnTo>
                  <a:cubicBezTo>
                    <a:pt x="4386543" y="2221953"/>
                    <a:pt x="4375930" y="2232567"/>
                    <a:pt x="4362837" y="2232567"/>
                  </a:cubicBezTo>
                  <a:lnTo>
                    <a:pt x="23707" y="2232567"/>
                  </a:lnTo>
                  <a:cubicBezTo>
                    <a:pt x="10614" y="2232567"/>
                    <a:pt x="0" y="2221953"/>
                    <a:pt x="0" y="2208860"/>
                  </a:cubicBezTo>
                  <a:lnTo>
                    <a:pt x="0" y="23707"/>
                  </a:lnTo>
                  <a:cubicBezTo>
                    <a:pt x="0" y="10614"/>
                    <a:pt x="10614" y="0"/>
                    <a:pt x="2370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86544" cy="2270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95658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816421" y="2319849"/>
            <a:ext cx="16655158" cy="0"/>
          </a:xfrm>
          <a:prstGeom prst="line">
            <a:avLst/>
          </a:prstGeom>
          <a:ln cap="flat" w="38100">
            <a:solidFill>
              <a:srgbClr val="D543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576592" y="1183488"/>
            <a:ext cx="7301774" cy="97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6"/>
              </a:lnSpc>
              <a:spcBef>
                <a:spcPct val="0"/>
              </a:spcBef>
            </a:pPr>
            <a:r>
              <a:rPr lang="en-US" b="true" sz="53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687632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30684" y="3160718"/>
            <a:ext cx="9826633" cy="1235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22"/>
              </a:lnSpc>
              <a:spcBef>
                <a:spcPct val="0"/>
              </a:spcBef>
            </a:pPr>
            <a:r>
              <a:rPr lang="en-US" sz="7230" spc="-289">
                <a:solidFill>
                  <a:srgbClr val="D54344"/>
                </a:solidFill>
                <a:latin typeface="Saifah Font TH"/>
                <a:ea typeface="Saifah Font TH"/>
                <a:cs typeface="Saifah Font TH"/>
                <a:sym typeface="Saifah Font TH"/>
              </a:rPr>
              <a:t>Deployment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93373" y="4771263"/>
            <a:ext cx="12668212" cy="161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9876" indent="-324938" lvl="1">
              <a:lnSpc>
                <a:spcPts val="4214"/>
              </a:lnSpc>
              <a:buFont typeface="Arial"/>
              <a:buChar char="•"/>
            </a:pPr>
            <a:r>
              <a:rPr lang="en-US" sz="3010" spc="1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application is deployed on</a:t>
            </a:r>
            <a:r>
              <a:rPr lang="en-US" b="true" sz="3010" spc="153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Hugging Face Spaces.</a:t>
            </a:r>
          </a:p>
          <a:p>
            <a:pPr algn="l" marL="649876" indent="-324938" lvl="1">
              <a:lnSpc>
                <a:spcPts val="4214"/>
              </a:lnSpc>
              <a:buFont typeface="Arial"/>
              <a:buChar char="•"/>
            </a:pPr>
            <a:r>
              <a:rPr lang="en-US" sz="3010" spc="1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Makes the system accessible via a public web link</a:t>
            </a:r>
          </a:p>
          <a:p>
            <a:pPr algn="l" marL="649876" indent="-324938" lvl="1">
              <a:lnSpc>
                <a:spcPts val="421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0" spc="153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 installation required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6421" y="1028700"/>
            <a:ext cx="16655158" cy="8476778"/>
            <a:chOff x="0" y="0"/>
            <a:chExt cx="4386544" cy="22325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6543" cy="2232567"/>
            </a:xfrm>
            <a:custGeom>
              <a:avLst/>
              <a:gdLst/>
              <a:ahLst/>
              <a:cxnLst/>
              <a:rect r="r" b="b" t="t" l="l"/>
              <a:pathLst>
                <a:path h="2232567" w="4386543">
                  <a:moveTo>
                    <a:pt x="23707" y="0"/>
                  </a:moveTo>
                  <a:lnTo>
                    <a:pt x="4362837" y="0"/>
                  </a:lnTo>
                  <a:cubicBezTo>
                    <a:pt x="4375930" y="0"/>
                    <a:pt x="4386543" y="10614"/>
                    <a:pt x="4386543" y="23707"/>
                  </a:cubicBezTo>
                  <a:lnTo>
                    <a:pt x="4386543" y="2208860"/>
                  </a:lnTo>
                  <a:cubicBezTo>
                    <a:pt x="4386543" y="2221953"/>
                    <a:pt x="4375930" y="2232567"/>
                    <a:pt x="4362837" y="2232567"/>
                  </a:cubicBezTo>
                  <a:lnTo>
                    <a:pt x="23707" y="2232567"/>
                  </a:lnTo>
                  <a:cubicBezTo>
                    <a:pt x="10614" y="2232567"/>
                    <a:pt x="0" y="2221953"/>
                    <a:pt x="0" y="2208860"/>
                  </a:cubicBezTo>
                  <a:lnTo>
                    <a:pt x="0" y="23707"/>
                  </a:lnTo>
                  <a:cubicBezTo>
                    <a:pt x="0" y="10614"/>
                    <a:pt x="10614" y="0"/>
                    <a:pt x="2370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86544" cy="2270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95658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816421" y="2319849"/>
            <a:ext cx="16655158" cy="0"/>
          </a:xfrm>
          <a:prstGeom prst="line">
            <a:avLst/>
          </a:prstGeom>
          <a:ln cap="flat" w="38100">
            <a:solidFill>
              <a:srgbClr val="D543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576592" y="1183488"/>
            <a:ext cx="7301774" cy="97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6"/>
              </a:lnSpc>
              <a:spcBef>
                <a:spcPct val="0"/>
              </a:spcBef>
            </a:pPr>
            <a:r>
              <a:rPr lang="en-US" b="true" sz="53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687632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46686" y="2634174"/>
            <a:ext cx="15394627" cy="645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2541" indent="-301270" lvl="1">
              <a:lnSpc>
                <a:spcPts val="3907"/>
              </a:lnSpc>
              <a:buFont typeface="Arial"/>
              <a:buChar char="•"/>
            </a:pPr>
            <a:r>
              <a:rPr lang="en-US" sz="2790" spc="1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project successfully demonstrates a</a:t>
            </a:r>
            <a:r>
              <a:rPr lang="en-US" b="true" sz="2790" spc="142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simple and effective platform for reporting and managing civic issues.</a:t>
            </a:r>
          </a:p>
          <a:p>
            <a:pPr algn="l" marL="602541" indent="-301270" lvl="1">
              <a:lnSpc>
                <a:spcPts val="3907"/>
              </a:lnSpc>
              <a:buFont typeface="Arial"/>
              <a:buChar char="•"/>
            </a:pPr>
            <a:r>
              <a:rPr lang="en-US" sz="2790" spc="1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enables </a:t>
            </a:r>
            <a:r>
              <a:rPr lang="en-US" b="true" sz="2790" spc="142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active citizen participation</a:t>
            </a:r>
            <a:r>
              <a:rPr lang="en-US" sz="2790" spc="1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by reducing the complexity of reporting problems</a:t>
            </a:r>
          </a:p>
          <a:p>
            <a:pPr algn="l" marL="602541" indent="-301270" lvl="1">
              <a:lnSpc>
                <a:spcPts val="3907"/>
              </a:lnSpc>
              <a:buFont typeface="Arial"/>
              <a:buChar char="•"/>
            </a:pPr>
            <a:r>
              <a:rPr lang="en-US" sz="2790" spc="1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system ensures </a:t>
            </a:r>
            <a:r>
              <a:rPr lang="en-US" b="true" sz="2790" spc="142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structured data collection and storage, making it easier to track and manage issues.</a:t>
            </a:r>
          </a:p>
          <a:p>
            <a:pPr algn="l" marL="602541" indent="-301270" lvl="1">
              <a:lnSpc>
                <a:spcPts val="3907"/>
              </a:lnSpc>
              <a:buFont typeface="Arial"/>
              <a:buChar char="•"/>
            </a:pPr>
            <a:r>
              <a:rPr lang="en-US" sz="2790" spc="1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admin interface provides </a:t>
            </a:r>
            <a:r>
              <a:rPr lang="en-US" b="true" sz="2790" spc="142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centralized control, allowing efficient monitoring and resolution of complaints.</a:t>
            </a:r>
          </a:p>
          <a:p>
            <a:pPr algn="l" marL="602541" indent="-301270" lvl="1">
              <a:lnSpc>
                <a:spcPts val="3907"/>
              </a:lnSpc>
              <a:buFont typeface="Arial"/>
              <a:buChar char="•"/>
            </a:pPr>
            <a:r>
              <a:rPr lang="en-US" sz="2790" spc="1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use of dashboards and categorization helps in </a:t>
            </a:r>
            <a:r>
              <a:rPr lang="en-US" b="true" sz="2790" spc="142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better understanding and analysis of civic problems</a:t>
            </a:r>
          </a:p>
          <a:p>
            <a:pPr algn="l" marL="602541" indent="-301270" lvl="1">
              <a:lnSpc>
                <a:spcPts val="3907"/>
              </a:lnSpc>
              <a:buFont typeface="Arial"/>
              <a:buChar char="•"/>
            </a:pPr>
            <a:r>
              <a:rPr lang="en-US" b="true" sz="2790" spc="142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Transparency </a:t>
            </a:r>
            <a:r>
              <a:rPr lang="en-US" sz="2790" spc="1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 issue handling</a:t>
            </a:r>
          </a:p>
          <a:p>
            <a:pPr algn="l" marL="602541" indent="-301270" lvl="1">
              <a:lnSpc>
                <a:spcPts val="3907"/>
              </a:lnSpc>
              <a:buFont typeface="Arial"/>
              <a:buChar char="•"/>
            </a:pPr>
            <a:r>
              <a:rPr lang="en-US" b="true" sz="2790" spc="142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Efficiency</a:t>
            </a:r>
            <a:r>
              <a:rPr lang="en-US" sz="2790" spc="1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 reporting and </a:t>
            </a:r>
            <a:r>
              <a:rPr lang="en-US" b="true" sz="2790" spc="142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resolution</a:t>
            </a:r>
          </a:p>
          <a:p>
            <a:pPr algn="l" marL="602541" indent="-301270" lvl="1">
              <a:lnSpc>
                <a:spcPts val="390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0" spc="142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Communication</a:t>
            </a:r>
            <a:r>
              <a:rPr lang="en-US" sz="2790" spc="1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between </a:t>
            </a:r>
            <a:r>
              <a:rPr lang="en-US" b="true" sz="2790" spc="142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citizens and authorities</a:t>
            </a:r>
          </a:p>
        </p:txBody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6421" y="1028700"/>
            <a:ext cx="16655158" cy="8476778"/>
            <a:chOff x="0" y="0"/>
            <a:chExt cx="4386544" cy="22325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6543" cy="2232567"/>
            </a:xfrm>
            <a:custGeom>
              <a:avLst/>
              <a:gdLst/>
              <a:ahLst/>
              <a:cxnLst/>
              <a:rect r="r" b="b" t="t" l="l"/>
              <a:pathLst>
                <a:path h="2232567" w="4386543">
                  <a:moveTo>
                    <a:pt x="23707" y="0"/>
                  </a:moveTo>
                  <a:lnTo>
                    <a:pt x="4362837" y="0"/>
                  </a:lnTo>
                  <a:cubicBezTo>
                    <a:pt x="4375930" y="0"/>
                    <a:pt x="4386543" y="10614"/>
                    <a:pt x="4386543" y="23707"/>
                  </a:cubicBezTo>
                  <a:lnTo>
                    <a:pt x="4386543" y="2208860"/>
                  </a:lnTo>
                  <a:cubicBezTo>
                    <a:pt x="4386543" y="2221953"/>
                    <a:pt x="4375930" y="2232567"/>
                    <a:pt x="4362837" y="2232567"/>
                  </a:cubicBezTo>
                  <a:lnTo>
                    <a:pt x="23707" y="2232567"/>
                  </a:lnTo>
                  <a:cubicBezTo>
                    <a:pt x="10614" y="2232567"/>
                    <a:pt x="0" y="2221953"/>
                    <a:pt x="0" y="2208860"/>
                  </a:cubicBezTo>
                  <a:lnTo>
                    <a:pt x="0" y="23707"/>
                  </a:lnTo>
                  <a:cubicBezTo>
                    <a:pt x="0" y="10614"/>
                    <a:pt x="10614" y="0"/>
                    <a:pt x="2370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86544" cy="2270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95658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816421" y="2319849"/>
            <a:ext cx="16655158" cy="0"/>
          </a:xfrm>
          <a:prstGeom prst="line">
            <a:avLst/>
          </a:prstGeom>
          <a:ln cap="flat" w="38100">
            <a:solidFill>
              <a:srgbClr val="D543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576592" y="1183488"/>
            <a:ext cx="7301774" cy="97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6"/>
              </a:lnSpc>
              <a:spcBef>
                <a:spcPct val="0"/>
              </a:spcBef>
            </a:pPr>
            <a:r>
              <a:rPr lang="en-US" b="true" sz="536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SCOPE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687632" y="1345413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87953" y="2662749"/>
            <a:ext cx="16183626" cy="6141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0120" indent="-250060" lvl="1">
              <a:lnSpc>
                <a:spcPts val="3243"/>
              </a:lnSpc>
              <a:buFont typeface="Arial"/>
              <a:buChar char="•"/>
            </a:pP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system can be </a:t>
            </a:r>
            <a:r>
              <a:rPr lang="en-US" b="true" sz="2316" spc="118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enhanced by integrating location-based mapping (Google Maps) to allow users to mark exact issue locations for better accuracy</a:t>
            </a:r>
          </a:p>
          <a:p>
            <a:pPr algn="l" marL="500120" indent="-250060" lvl="1">
              <a:lnSpc>
                <a:spcPts val="3243"/>
              </a:lnSpc>
              <a:buFont typeface="Arial"/>
              <a:buChar char="•"/>
            </a:pPr>
            <a:r>
              <a:rPr lang="en-US" b="true" sz="2316" spc="118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Adding an image upload feature</a:t>
            </a: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would enable users to attach photos, providing </a:t>
            </a:r>
            <a:r>
              <a:rPr lang="en-US" b="true" sz="2316" spc="118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visual proof</a:t>
            </a: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improving the reliability of reports</a:t>
            </a:r>
          </a:p>
          <a:p>
            <a:pPr algn="l" marL="500120" indent="-250060" lvl="1">
              <a:lnSpc>
                <a:spcPts val="3243"/>
              </a:lnSpc>
              <a:buFont typeface="Arial"/>
              <a:buChar char="•"/>
            </a:pP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platform can be upgraded using </a:t>
            </a:r>
            <a:r>
              <a:rPr lang="en-US" b="true" sz="2316" spc="118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 and Machine Learning</a:t>
            </a: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to:</a:t>
            </a:r>
          </a:p>
          <a:p>
            <a:pPr algn="l">
              <a:lnSpc>
                <a:spcPts val="3243"/>
              </a:lnSpc>
            </a:pP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i) </a:t>
            </a: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Automatically classify issues</a:t>
            </a:r>
          </a:p>
          <a:p>
            <a:pPr algn="l">
              <a:lnSpc>
                <a:spcPts val="3243"/>
              </a:lnSpc>
            </a:pP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ii) </a:t>
            </a: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Identify patterns</a:t>
            </a:r>
          </a:p>
          <a:p>
            <a:pPr algn="l">
              <a:lnSpc>
                <a:spcPts val="3243"/>
              </a:lnSpc>
            </a:pP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iii) </a:t>
            </a: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Prioritize critical problems</a:t>
            </a:r>
          </a:p>
          <a:p>
            <a:pPr algn="l">
              <a:lnSpc>
                <a:spcPts val="3243"/>
              </a:lnSpc>
            </a:pP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iv)</a:t>
            </a: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notification system (Email/SMS) can be implemented to:</a:t>
            </a:r>
          </a:p>
          <a:p>
            <a:pPr algn="l">
              <a:lnSpc>
                <a:spcPts val="3243"/>
              </a:lnSpc>
            </a:pP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v)</a:t>
            </a: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 users about status updates</a:t>
            </a:r>
          </a:p>
          <a:p>
            <a:pPr algn="l">
              <a:lnSpc>
                <a:spcPts val="3243"/>
              </a:lnSpc>
            </a:pP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vi)</a:t>
            </a: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Alert authorities about new issues in real time</a:t>
            </a:r>
          </a:p>
          <a:p>
            <a:pPr algn="l">
              <a:lnSpc>
                <a:spcPts val="3243"/>
              </a:lnSpc>
            </a:pP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vii)</a:t>
            </a: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Developing a mobile application version would increase accessibility and encourage more               </a:t>
            </a:r>
          </a:p>
          <a:p>
            <a:pPr algn="l">
              <a:lnSpc>
                <a:spcPts val="3243"/>
              </a:lnSpc>
            </a:pPr>
          </a:p>
          <a:p>
            <a:pPr algn="l">
              <a:lnSpc>
                <a:spcPts val="3243"/>
              </a:lnSpc>
            </a:pP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viii)</a:t>
            </a: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system can be integrated with government or municipal databases for real-world </a:t>
            </a:r>
          </a:p>
          <a:p>
            <a:pPr algn="l">
              <a:lnSpc>
                <a:spcPts val="3243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730697" y="7500707"/>
            <a:ext cx="3047927" cy="40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3"/>
              </a:lnSpc>
              <a:spcBef>
                <a:spcPct val="0"/>
              </a:spcBef>
            </a:pP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 participation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51962" y="8396799"/>
            <a:ext cx="8060684" cy="40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3"/>
              </a:lnSpc>
              <a:spcBef>
                <a:spcPct val="0"/>
              </a:spcBef>
            </a:pPr>
            <a:r>
              <a:rPr lang="en-US" sz="2316" spc="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implementation and faster resolution of issues.</a:t>
            </a:r>
          </a:p>
        </p:txBody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57529" y="8999947"/>
            <a:ext cx="3863286" cy="258353"/>
          </a:xfrm>
          <a:custGeom>
            <a:avLst/>
            <a:gdLst/>
            <a:ahLst/>
            <a:cxnLst/>
            <a:rect r="r" b="b" t="t" l="l"/>
            <a:pathLst>
              <a:path h="258353" w="3863286">
                <a:moveTo>
                  <a:pt x="0" y="0"/>
                </a:moveTo>
                <a:lnTo>
                  <a:pt x="3863286" y="0"/>
                </a:lnTo>
                <a:lnTo>
                  <a:pt x="3863286" y="258353"/>
                </a:lnTo>
                <a:lnTo>
                  <a:pt x="0" y="2583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96014" y="1153523"/>
            <a:ext cx="3863286" cy="258353"/>
          </a:xfrm>
          <a:custGeom>
            <a:avLst/>
            <a:gdLst/>
            <a:ahLst/>
            <a:cxnLst/>
            <a:rect r="r" b="b" t="t" l="l"/>
            <a:pathLst>
              <a:path h="258353" w="3863286">
                <a:moveTo>
                  <a:pt x="0" y="0"/>
                </a:moveTo>
                <a:lnTo>
                  <a:pt x="3863286" y="0"/>
                </a:lnTo>
                <a:lnTo>
                  <a:pt x="3863286" y="258354"/>
                </a:lnTo>
                <a:lnTo>
                  <a:pt x="0" y="2583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9625" y="1028700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87632" y="8819050"/>
            <a:ext cx="571668" cy="571668"/>
          </a:xfrm>
          <a:custGeom>
            <a:avLst/>
            <a:gdLst/>
            <a:ahLst/>
            <a:cxnLst/>
            <a:rect r="r" b="b" t="t" l="l"/>
            <a:pathLst>
              <a:path h="571668" w="571668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36087" y="8972861"/>
            <a:ext cx="8598837" cy="55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570" b="true">
                <a:solidFill>
                  <a:srgbClr val="D5434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Foundation of Artificial Intelligence Programming using Python</a:t>
            </a:r>
          </a:p>
          <a:p>
            <a:pPr algn="l">
              <a:lnSpc>
                <a:spcPts val="2199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569805" y="1600368"/>
            <a:ext cx="17148391" cy="6144410"/>
            <a:chOff x="0" y="0"/>
            <a:chExt cx="22864521" cy="819254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1043847" y="1467851"/>
              <a:ext cx="21086761" cy="5459648"/>
              <a:chOff x="0" y="0"/>
              <a:chExt cx="3139272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13927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139272">
                    <a:moveTo>
                      <a:pt x="1569636" y="0"/>
                    </a:moveTo>
                    <a:cubicBezTo>
                      <a:pt x="702750" y="0"/>
                      <a:pt x="0" y="181951"/>
                      <a:pt x="0" y="406400"/>
                    </a:cubicBezTo>
                    <a:cubicBezTo>
                      <a:pt x="0" y="630849"/>
                      <a:pt x="702750" y="812800"/>
                      <a:pt x="1569636" y="812800"/>
                    </a:cubicBezTo>
                    <a:cubicBezTo>
                      <a:pt x="2436522" y="812800"/>
                      <a:pt x="3139272" y="630849"/>
                      <a:pt x="3139272" y="406400"/>
                    </a:cubicBezTo>
                    <a:cubicBezTo>
                      <a:pt x="3139272" y="181951"/>
                      <a:pt x="2436522" y="0"/>
                      <a:pt x="1569636" y="0"/>
                    </a:cubicBezTo>
                    <a:close/>
                  </a:path>
                </a:pathLst>
              </a:custGeom>
              <a:solidFill>
                <a:srgbClr val="D5434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294307" y="38100"/>
                <a:ext cx="2550658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454637">
              <a:off x="775949" y="1366449"/>
              <a:ext cx="21086761" cy="5459648"/>
              <a:chOff x="0" y="0"/>
              <a:chExt cx="3139272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13927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139272">
                    <a:moveTo>
                      <a:pt x="1569636" y="0"/>
                    </a:moveTo>
                    <a:cubicBezTo>
                      <a:pt x="702750" y="0"/>
                      <a:pt x="0" y="181951"/>
                      <a:pt x="0" y="406400"/>
                    </a:cubicBezTo>
                    <a:cubicBezTo>
                      <a:pt x="0" y="630849"/>
                      <a:pt x="702750" y="812800"/>
                      <a:pt x="1569636" y="812800"/>
                    </a:cubicBezTo>
                    <a:cubicBezTo>
                      <a:pt x="2436522" y="812800"/>
                      <a:pt x="3139272" y="630849"/>
                      <a:pt x="3139272" y="406400"/>
                    </a:cubicBezTo>
                    <a:cubicBezTo>
                      <a:pt x="3139272" y="181951"/>
                      <a:pt x="2436522" y="0"/>
                      <a:pt x="1569636" y="0"/>
                    </a:cubicBezTo>
                    <a:close/>
                  </a:path>
                </a:pathLst>
              </a:custGeom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94307" y="38100"/>
                <a:ext cx="2550658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2472547"/>
              <a:ext cx="22864521" cy="3069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528"/>
                </a:lnSpc>
                <a:spcBef>
                  <a:spcPct val="0"/>
                </a:spcBef>
              </a:pPr>
              <a:r>
                <a:rPr lang="en-US" b="true" sz="13234">
                  <a:solidFill>
                    <a:srgbClr val="071828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THANK YOU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19370803" y="962179"/>
              <a:ext cx="1011343" cy="1011343"/>
            </a:xfrm>
            <a:custGeom>
              <a:avLst/>
              <a:gdLst/>
              <a:ahLst/>
              <a:cxnLst/>
              <a:rect r="r" b="b" t="t" l="l"/>
              <a:pathLst>
                <a:path h="1011343" w="1011343">
                  <a:moveTo>
                    <a:pt x="0" y="0"/>
                  </a:moveTo>
                  <a:lnTo>
                    <a:pt x="1011344" y="0"/>
                  </a:lnTo>
                  <a:lnTo>
                    <a:pt x="1011344" y="1011344"/>
                  </a:lnTo>
                  <a:lnTo>
                    <a:pt x="0" y="1011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043847" y="5880457"/>
              <a:ext cx="1011343" cy="1011343"/>
            </a:xfrm>
            <a:custGeom>
              <a:avLst/>
              <a:gdLst/>
              <a:ahLst/>
              <a:cxnLst/>
              <a:rect r="r" b="b" t="t" l="l"/>
              <a:pathLst>
                <a:path h="1011343" w="1011343">
                  <a:moveTo>
                    <a:pt x="0" y="0"/>
                  </a:moveTo>
                  <a:lnTo>
                    <a:pt x="1011343" y="0"/>
                  </a:lnTo>
                  <a:lnTo>
                    <a:pt x="1011343" y="1011343"/>
                  </a:lnTo>
                  <a:lnTo>
                    <a:pt x="0" y="1011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6376053" y="1194813"/>
              <a:ext cx="9886554" cy="1714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830"/>
                </a:lnSpc>
                <a:spcBef>
                  <a:spcPct val="0"/>
                </a:spcBef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8392480" y="5113373"/>
              <a:ext cx="5853700" cy="1410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922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420815" y="1115423"/>
            <a:ext cx="1975199" cy="27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  <a:spcBef>
                <a:spcPct val="0"/>
              </a:spcBef>
            </a:pPr>
            <a:r>
              <a:rPr lang="en-US" b="true" sz="157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milestone project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08415" y="8840069"/>
            <a:ext cx="3894168" cy="55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99"/>
              </a:lnSpc>
            </a:pPr>
            <a:r>
              <a:rPr lang="en-US" sz="1570" b="true">
                <a:solidFill>
                  <a:srgbClr val="D5434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By Raya Singh (A25ARIU0058)</a:t>
            </a:r>
          </a:p>
          <a:p>
            <a:pPr algn="r">
              <a:lnSpc>
                <a:spcPts val="2199"/>
              </a:lnSpc>
              <a:spcBef>
                <a:spcPct val="0"/>
              </a:spcBef>
            </a:pPr>
            <a:r>
              <a:rPr lang="en-US" b="true" sz="1570">
                <a:solidFill>
                  <a:srgbClr val="D5434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&amp; Swarnima Singh (A25ARIU0072)</a:t>
            </a:r>
          </a:p>
        </p:txBody>
      </p:sp>
    </p:spTree>
  </p:cSld>
  <p:clrMapOvr>
    <a:masterClrMapping/>
  </p:clrMapOvr>
  <p:transition spd="slow">
    <p:cover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DAHGcvLA50c</dc:identifier>
  <dcterms:modified xsi:type="dcterms:W3CDTF">2011-08-01T06:04:30Z</dcterms:modified>
  <cp:revision>1</cp:revision>
  <dc:title>milestone project</dc:title>
</cp:coreProperties>
</file>